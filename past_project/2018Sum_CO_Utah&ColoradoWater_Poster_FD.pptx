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27432000" cy="36576000"/>
  <p:notesSz cx="6858000" cy="9144000"/>
  <p:defaultTextStyle>
    <a:defPPr>
      <a:defRPr lang="en-US"/>
    </a:defPPr>
    <a:lvl1pPr marL="0" algn="l" defTabSz="3072384" rtl="0" eaLnBrk="1" latinLnBrk="0" hangingPunct="1">
      <a:defRPr sz="6048" kern="1200">
        <a:solidFill>
          <a:schemeClr val="tx1"/>
        </a:solidFill>
        <a:latin typeface="+mn-lt"/>
        <a:ea typeface="+mn-ea"/>
        <a:cs typeface="+mn-cs"/>
      </a:defRPr>
    </a:lvl1pPr>
    <a:lvl2pPr marL="1536192" algn="l" defTabSz="3072384" rtl="0" eaLnBrk="1" latinLnBrk="0" hangingPunct="1">
      <a:defRPr sz="6048" kern="1200">
        <a:solidFill>
          <a:schemeClr val="tx1"/>
        </a:solidFill>
        <a:latin typeface="+mn-lt"/>
        <a:ea typeface="+mn-ea"/>
        <a:cs typeface="+mn-cs"/>
      </a:defRPr>
    </a:lvl2pPr>
    <a:lvl3pPr marL="3072384" algn="l" defTabSz="3072384" rtl="0" eaLnBrk="1" latinLnBrk="0" hangingPunct="1">
      <a:defRPr sz="6048" kern="1200">
        <a:solidFill>
          <a:schemeClr val="tx1"/>
        </a:solidFill>
        <a:latin typeface="+mn-lt"/>
        <a:ea typeface="+mn-ea"/>
        <a:cs typeface="+mn-cs"/>
      </a:defRPr>
    </a:lvl3pPr>
    <a:lvl4pPr marL="4608576" algn="l" defTabSz="3072384" rtl="0" eaLnBrk="1" latinLnBrk="0" hangingPunct="1">
      <a:defRPr sz="6048" kern="1200">
        <a:solidFill>
          <a:schemeClr val="tx1"/>
        </a:solidFill>
        <a:latin typeface="+mn-lt"/>
        <a:ea typeface="+mn-ea"/>
        <a:cs typeface="+mn-cs"/>
      </a:defRPr>
    </a:lvl4pPr>
    <a:lvl5pPr marL="6144768" algn="l" defTabSz="3072384" rtl="0" eaLnBrk="1" latinLnBrk="0" hangingPunct="1">
      <a:defRPr sz="6048" kern="1200">
        <a:solidFill>
          <a:schemeClr val="tx1"/>
        </a:solidFill>
        <a:latin typeface="+mn-lt"/>
        <a:ea typeface="+mn-ea"/>
        <a:cs typeface="+mn-cs"/>
      </a:defRPr>
    </a:lvl5pPr>
    <a:lvl6pPr marL="7680960" algn="l" defTabSz="3072384" rtl="0" eaLnBrk="1" latinLnBrk="0" hangingPunct="1">
      <a:defRPr sz="6048" kern="1200">
        <a:solidFill>
          <a:schemeClr val="tx1"/>
        </a:solidFill>
        <a:latin typeface="+mn-lt"/>
        <a:ea typeface="+mn-ea"/>
        <a:cs typeface="+mn-cs"/>
      </a:defRPr>
    </a:lvl6pPr>
    <a:lvl7pPr marL="9217152" algn="l" defTabSz="3072384" rtl="0" eaLnBrk="1" latinLnBrk="0" hangingPunct="1">
      <a:defRPr sz="6048" kern="1200">
        <a:solidFill>
          <a:schemeClr val="tx1"/>
        </a:solidFill>
        <a:latin typeface="+mn-lt"/>
        <a:ea typeface="+mn-ea"/>
        <a:cs typeface="+mn-cs"/>
      </a:defRPr>
    </a:lvl7pPr>
    <a:lvl8pPr marL="10753344" algn="l" defTabSz="3072384" rtl="0" eaLnBrk="1" latinLnBrk="0" hangingPunct="1">
      <a:defRPr sz="6048" kern="1200">
        <a:solidFill>
          <a:schemeClr val="tx1"/>
        </a:solidFill>
        <a:latin typeface="+mn-lt"/>
        <a:ea typeface="+mn-ea"/>
        <a:cs typeface="+mn-cs"/>
      </a:defRPr>
    </a:lvl8pPr>
    <a:lvl9pPr marL="12289536" algn="l" defTabSz="3072384" rtl="0" eaLnBrk="1" latinLnBrk="0" hangingPunct="1">
      <a:defRPr sz="604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ayton, Amanda L. (LARC-E3)[SSAI DEVELOP]" initials="CAL(D" lastIdx="5" clrIdx="0">
    <p:extLst>
      <p:ext uri="{19B8F6BF-5375-455C-9EA6-DF929625EA0E}">
        <p15:presenceInfo xmlns:p15="http://schemas.microsoft.com/office/powerpoint/2012/main" userId="S-1-5-21-330711430-3775241029-4075259233-682401" providerId="AD"/>
      </p:ext>
    </p:extLst>
  </p:cmAuthor>
  <p:cmAuthor id="2" name="Windows User" initials="WU" lastIdx="9" clrIdx="1">
    <p:extLst>
      <p:ext uri="{19B8F6BF-5375-455C-9EA6-DF929625EA0E}">
        <p15:presenceInfo xmlns:p15="http://schemas.microsoft.com/office/powerpoint/2012/main" userId="Windows User" providerId="None"/>
      </p:ext>
    </p:extLst>
  </p:cmAuthor>
  <p:cmAuthor id="3" name="Rousseau, Nick J (329D-Affiliate)" initials="RNJ(" lastIdx="1" clrIdx="2">
    <p:extLst>
      <p:ext uri="{19B8F6BF-5375-455C-9EA6-DF929625EA0E}">
        <p15:presenceInfo xmlns:p15="http://schemas.microsoft.com/office/powerpoint/2012/main" userId="S-1-5-21-1608413684-1126320247-1535859923-1289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DCDE1"/>
    <a:srgbClr val="6AB5D3"/>
    <a:srgbClr val="379BC4"/>
    <a:srgbClr val="396222"/>
    <a:srgbClr val="10450F"/>
    <a:srgbClr val="09315C"/>
    <a:srgbClr val="00BBEE"/>
    <a:srgbClr val="1F5C00"/>
    <a:srgbClr val="37A800"/>
    <a:srgbClr val="71D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8455" autoAdjust="0"/>
    <p:restoredTop sz="94660"/>
  </p:normalViewPr>
  <p:slideViewPr>
    <p:cSldViewPr snapToGrid="0">
      <p:cViewPr>
        <p:scale>
          <a:sx n="40" d="100"/>
          <a:sy n="40" d="100"/>
        </p:scale>
        <p:origin x="414" y="-42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commentAuthors" Target="commentAuthors.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sng" strike="noStrike" kern="1200" spc="0" baseline="0">
                <a:solidFill>
                  <a:schemeClr val="tx1">
                    <a:lumMod val="75000"/>
                    <a:lumOff val="25000"/>
                  </a:schemeClr>
                </a:solidFill>
                <a:latin typeface="Century Gothic" panose="020B0502020202020204" pitchFamily="34" charset="0"/>
                <a:ea typeface="+mn-ea"/>
                <a:cs typeface="+mn-cs"/>
              </a:defRPr>
            </a:pPr>
            <a:r>
              <a:rPr lang="en-US" sz="1800" b="1" u="sng"/>
              <a:t>Landcover Area</a:t>
            </a:r>
          </a:p>
        </c:rich>
      </c:tx>
      <c:overlay val="0"/>
      <c:spPr>
        <a:noFill/>
        <a:ln>
          <a:noFill/>
        </a:ln>
        <a:effectLst/>
      </c:spPr>
      <c:txPr>
        <a:bodyPr rot="0" spcFirstLastPara="1" vertOverflow="ellipsis" vert="horz" wrap="square" anchor="ctr" anchorCtr="1"/>
        <a:lstStyle/>
        <a:p>
          <a:pPr>
            <a:defRPr sz="1800" b="1" i="0" u="sng" strike="noStrike" kern="1200" spc="0" baseline="0">
              <a:solidFill>
                <a:schemeClr val="tx1">
                  <a:lumMod val="75000"/>
                  <a:lumOff val="25000"/>
                </a:schemeClr>
              </a:solidFill>
              <a:latin typeface="Century Gothic" panose="020B0502020202020204" pitchFamily="34" charset="0"/>
              <a:ea typeface="+mn-ea"/>
              <a:cs typeface="+mn-cs"/>
            </a:defRPr>
          </a:pPr>
          <a:endParaRPr lang="en-US"/>
        </a:p>
      </c:txPr>
    </c:title>
    <c:autoTitleDeleted val="0"/>
    <c:plotArea>
      <c:layout/>
      <c:barChart>
        <c:barDir val="col"/>
        <c:grouping val="clustered"/>
        <c:varyColors val="0"/>
        <c:ser>
          <c:idx val="0"/>
          <c:order val="0"/>
          <c:tx>
            <c:strRef>
              <c:f>Sheet1!$A$3</c:f>
              <c:strCache>
                <c:ptCount val="1"/>
                <c:pt idx="0">
                  <c:v>Vegetation</c:v>
                </c:pt>
              </c:strCache>
            </c:strRef>
          </c:tx>
          <c:spPr>
            <a:solidFill>
              <a:srgbClr val="38A800"/>
            </a:solidFill>
            <a:ln>
              <a:noFill/>
            </a:ln>
            <a:effectLst/>
          </c:spPr>
          <c:invertIfNegative val="0"/>
          <c:cat>
            <c:numRef>
              <c:f>Sheet1!$B$2:$C$2</c:f>
              <c:numCache>
                <c:formatCode>General</c:formatCode>
                <c:ptCount val="2"/>
                <c:pt idx="0">
                  <c:v>1984</c:v>
                </c:pt>
                <c:pt idx="1">
                  <c:v>2017</c:v>
                </c:pt>
              </c:numCache>
            </c:numRef>
          </c:cat>
          <c:val>
            <c:numRef>
              <c:f>Sheet1!$B$3:$C$3</c:f>
              <c:numCache>
                <c:formatCode>General</c:formatCode>
                <c:ptCount val="2"/>
                <c:pt idx="0">
                  <c:v>73.8</c:v>
                </c:pt>
                <c:pt idx="1">
                  <c:v>285.48</c:v>
                </c:pt>
              </c:numCache>
            </c:numRef>
          </c:val>
          <c:extLst>
            <c:ext xmlns:c16="http://schemas.microsoft.com/office/drawing/2014/chart" uri="{C3380CC4-5D6E-409C-BE32-E72D297353CC}">
              <c16:uniqueId val="{00000000-21EC-4493-971F-D6B4D0AB9BD5}"/>
            </c:ext>
          </c:extLst>
        </c:ser>
        <c:ser>
          <c:idx val="1"/>
          <c:order val="1"/>
          <c:tx>
            <c:strRef>
              <c:f>Sheet1!$A$4</c:f>
              <c:strCache>
                <c:ptCount val="1"/>
                <c:pt idx="0">
                  <c:v>Water</c:v>
                </c:pt>
              </c:strCache>
            </c:strRef>
          </c:tx>
          <c:spPr>
            <a:solidFill>
              <a:srgbClr val="73DFFF"/>
            </a:solidFill>
            <a:ln>
              <a:noFill/>
            </a:ln>
            <a:effectLst/>
          </c:spPr>
          <c:invertIfNegative val="0"/>
          <c:cat>
            <c:numRef>
              <c:f>Sheet1!$B$2:$C$2</c:f>
              <c:numCache>
                <c:formatCode>General</c:formatCode>
                <c:ptCount val="2"/>
                <c:pt idx="0">
                  <c:v>1984</c:v>
                </c:pt>
                <c:pt idx="1">
                  <c:v>2017</c:v>
                </c:pt>
              </c:numCache>
            </c:numRef>
          </c:cat>
          <c:val>
            <c:numRef>
              <c:f>Sheet1!$B$4:$C$4</c:f>
              <c:numCache>
                <c:formatCode>General</c:formatCode>
                <c:ptCount val="2"/>
                <c:pt idx="0">
                  <c:v>330.93</c:v>
                </c:pt>
                <c:pt idx="1">
                  <c:v>204.48</c:v>
                </c:pt>
              </c:numCache>
            </c:numRef>
          </c:val>
          <c:extLst>
            <c:ext xmlns:c16="http://schemas.microsoft.com/office/drawing/2014/chart" uri="{C3380CC4-5D6E-409C-BE32-E72D297353CC}">
              <c16:uniqueId val="{00000001-21EC-4493-971F-D6B4D0AB9BD5}"/>
            </c:ext>
          </c:extLst>
        </c:ser>
        <c:dLbls>
          <c:showLegendKey val="0"/>
          <c:showVal val="0"/>
          <c:showCatName val="0"/>
          <c:showSerName val="0"/>
          <c:showPercent val="0"/>
          <c:showBubbleSize val="0"/>
        </c:dLbls>
        <c:gapWidth val="219"/>
        <c:overlap val="-27"/>
        <c:axId val="558834008"/>
        <c:axId val="558831712"/>
      </c:barChart>
      <c:catAx>
        <c:axId val="5588340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75000"/>
                    <a:lumOff val="25000"/>
                  </a:schemeClr>
                </a:solidFill>
                <a:latin typeface="Century Gothic" panose="020B0502020202020204" pitchFamily="34" charset="0"/>
                <a:ea typeface="+mn-ea"/>
                <a:cs typeface="+mn-cs"/>
              </a:defRPr>
            </a:pPr>
            <a:endParaRPr lang="en-US"/>
          </a:p>
        </c:txPr>
        <c:crossAx val="558831712"/>
        <c:crosses val="autoZero"/>
        <c:auto val="1"/>
        <c:lblAlgn val="ctr"/>
        <c:lblOffset val="100"/>
        <c:noMultiLvlLbl val="0"/>
      </c:catAx>
      <c:valAx>
        <c:axId val="55883171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600" b="1" i="0" u="none" strike="noStrike" kern="1200" baseline="0">
                    <a:solidFill>
                      <a:schemeClr val="tx1">
                        <a:lumMod val="75000"/>
                        <a:lumOff val="25000"/>
                      </a:schemeClr>
                    </a:solidFill>
                    <a:latin typeface="Century Gothic" panose="020B0502020202020204" pitchFamily="34" charset="0"/>
                    <a:ea typeface="+mn-ea"/>
                    <a:cs typeface="+mn-cs"/>
                  </a:defRPr>
                </a:pPr>
                <a:r>
                  <a:rPr lang="en-US" sz="1600" b="1"/>
                  <a:t>Hectares</a:t>
                </a:r>
              </a:p>
            </c:rich>
          </c:tx>
          <c:overlay val="0"/>
          <c:spPr>
            <a:noFill/>
            <a:ln>
              <a:noFill/>
            </a:ln>
            <a:effectLst/>
          </c:spPr>
          <c:txPr>
            <a:bodyPr rot="-5400000" spcFirstLastPara="1" vertOverflow="ellipsis" vert="horz" wrap="square" anchor="ctr" anchorCtr="1"/>
            <a:lstStyle/>
            <a:p>
              <a:pPr>
                <a:defRPr sz="1600" b="1" i="0" u="none" strike="noStrike" kern="1200" baseline="0">
                  <a:solidFill>
                    <a:schemeClr val="tx1">
                      <a:lumMod val="75000"/>
                      <a:lumOff val="25000"/>
                    </a:schemeClr>
                  </a:solidFill>
                  <a:latin typeface="Century Gothic" panose="020B0502020202020204" pitchFamily="34" charset="0"/>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75000"/>
                    <a:lumOff val="25000"/>
                  </a:schemeClr>
                </a:solidFill>
                <a:latin typeface="Century Gothic" panose="020B0502020202020204" pitchFamily="34" charset="0"/>
                <a:ea typeface="+mn-ea"/>
                <a:cs typeface="+mn-cs"/>
              </a:defRPr>
            </a:pPr>
            <a:endParaRPr lang="en-US"/>
          </a:p>
        </c:txPr>
        <c:crossAx val="5588340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28575">
      <a:solidFill>
        <a:schemeClr val="tx1"/>
      </a:solidFill>
      <a:prstDash val="solid"/>
    </a:ln>
    <a:effectLst/>
  </c:spPr>
  <c:txPr>
    <a:bodyPr/>
    <a:lstStyle/>
    <a:p>
      <a:pPr>
        <a:defRPr sz="1200">
          <a:solidFill>
            <a:schemeClr val="tx1">
              <a:lumMod val="75000"/>
              <a:lumOff val="25000"/>
            </a:schemeClr>
          </a:solidFill>
          <a:latin typeface="Century Gothic" panose="020B0502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5" y="0"/>
            <a:ext cx="27431450" cy="36575998"/>
          </a:xfrm>
          <a:prstGeom prst="rect">
            <a:avLst/>
          </a:prstGeom>
        </p:spPr>
      </p:pic>
      <p:sp>
        <p:nvSpPr>
          <p:cNvPr id="9" name="Subtitle"/>
          <p:cNvSpPr>
            <a:spLocks noGrp="1"/>
          </p:cNvSpPr>
          <p:nvPr>
            <p:ph type="body" sz="quarter" idx="13" hasCustomPrompt="1"/>
          </p:nvPr>
        </p:nvSpPr>
        <p:spPr>
          <a:xfrm>
            <a:off x="914400" y="438150"/>
            <a:ext cx="17183100" cy="3383280"/>
          </a:xfrm>
          <a:prstGeom prst="rect">
            <a:avLst/>
          </a:prstGeom>
        </p:spPr>
        <p:txBody>
          <a:bodyPr anchor="ctr"/>
          <a:lstStyle>
            <a:lvl1pPr marL="0" indent="0" algn="l">
              <a:spcBef>
                <a:spcPts val="0"/>
              </a:spcBef>
              <a:buNone/>
              <a:defRPr sz="6000" b="1" baseline="0">
                <a:solidFill>
                  <a:srgbClr val="389CC4"/>
                </a:solidFill>
                <a:latin typeface="+mj-lt"/>
              </a:defRPr>
            </a:lvl1pPr>
            <a:lvl2pPr>
              <a:defRPr sz="4800"/>
            </a:lvl2pPr>
            <a:lvl3pPr>
              <a:defRPr sz="4000"/>
            </a:lvl3pPr>
            <a:lvl4pPr>
              <a:defRPr sz="3600"/>
            </a:lvl4pPr>
            <a:lvl5pPr>
              <a:defRPr sz="3600"/>
            </a:lvl5pPr>
          </a:lstStyle>
          <a:p>
            <a:pPr lvl="0"/>
            <a:r>
              <a:rPr lang="en-US" dirty="0"/>
              <a:t>Project Subtitle </a:t>
            </a:r>
          </a:p>
          <a:p>
            <a:pPr lvl="0"/>
            <a:r>
              <a:rPr lang="en-US" dirty="0"/>
              <a:t>[Use Title Case]</a:t>
            </a:r>
          </a:p>
        </p:txBody>
      </p:sp>
      <p:sp>
        <p:nvSpPr>
          <p:cNvPr id="4" name="TextBox 3"/>
          <p:cNvSpPr txBox="1"/>
          <p:nvPr userDrawn="1"/>
        </p:nvSpPr>
        <p:spPr>
          <a:xfrm>
            <a:off x="3286898" y="35523895"/>
            <a:ext cx="23230702" cy="213905"/>
          </a:xfrm>
          <a:prstGeom prst="rect">
            <a:avLst/>
          </a:prstGeom>
          <a:noFill/>
        </p:spPr>
        <p:txBody>
          <a:bodyPr wrap="square" rtlCol="0">
            <a:spAutoFit/>
          </a:bodyPr>
          <a:lstStyle/>
          <a:p>
            <a:pPr algn="ctr"/>
            <a:r>
              <a:rPr lang="en-US" sz="790" i="1" dirty="0">
                <a:solidFill>
                  <a:schemeClr val="bg1">
                    <a:lumMod val="65000"/>
                  </a:schemeClr>
                </a:solidFill>
                <a:latin typeface="+mj-lt"/>
              </a:rPr>
              <a:t>This material is based upon work supported by NASA through contract NNL16AA05C and cooperative agreement NNX14AB60A. Any mention of a commercial product, service or activity in this material does not constitute NASA endorsement. Any opinions, findings and conclusions or recommendations expressed in this material are those of the author(s) and do not necessarily reflect the views of the National Aeronautics and Space Administration and partner organizations. </a:t>
            </a:r>
          </a:p>
        </p:txBody>
      </p:sp>
    </p:spTree>
    <p:extLst>
      <p:ext uri="{BB962C8B-B14F-4D97-AF65-F5344CB8AC3E}">
        <p14:creationId xmlns:p14="http://schemas.microsoft.com/office/powerpoint/2010/main" val="36038083"/>
      </p:ext>
    </p:extLst>
  </p:cSld>
  <p:clrMapOvr>
    <a:masterClrMapping/>
  </p:clrMapOvr>
  <p:extLst mod="1">
    <p:ext uri="{DCECCB84-F9BA-43D5-87BE-67443E8EF086}">
      <p15:sldGuideLst xmlns:p15="http://schemas.microsoft.com/office/powerpoint/2012/main">
        <p15:guide id="1" pos="16704" userDrawn="1">
          <p15:clr>
            <a:srgbClr val="FBAE40"/>
          </p15:clr>
        </p15:guide>
        <p15:guide id="2" pos="576" userDrawn="1">
          <p15:clr>
            <a:srgbClr val="FBAE40"/>
          </p15:clr>
        </p15:guide>
        <p15:guide id="3" pos="8640" userDrawn="1">
          <p15:clr>
            <a:srgbClr val="FBAE40"/>
          </p15:clr>
        </p15:guide>
        <p15:guide id="4" orient="horz" pos="264" userDrawn="1">
          <p15:clr>
            <a:srgbClr val="FBAE40"/>
          </p15:clr>
        </p15:guide>
        <p15:guide id="5" orient="horz" pos="22752" userDrawn="1">
          <p15:clr>
            <a:srgbClr val="FBAE40"/>
          </p15:clr>
        </p15:guide>
        <p15:guide id="7" orient="horz" pos="3240" userDrawn="1">
          <p15:clr>
            <a:srgbClr val="FBAE40"/>
          </p15:clr>
        </p15:guide>
        <p15:guide id="9" orient="horz" pos="21120" userDrawn="1">
          <p15:clr>
            <a:srgbClr val="FBAE40"/>
          </p15:clr>
        </p15:guide>
        <p15:guide id="10" orient="horz" pos="1872" userDrawn="1">
          <p15:clr>
            <a:srgbClr val="FBAE40"/>
          </p15:clr>
        </p15:guide>
        <p15:guide id="11" pos="11424"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459984"/>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2743200" rtl="0" eaLnBrk="1" latinLnBrk="0" hangingPunct="1">
        <a:lnSpc>
          <a:spcPct val="90000"/>
        </a:lnSpc>
        <a:spcBef>
          <a:spcPct val="0"/>
        </a:spcBef>
        <a:buNone/>
        <a:defRPr sz="13200" kern="1200">
          <a:solidFill>
            <a:schemeClr val="tx1"/>
          </a:solidFill>
          <a:latin typeface="+mj-lt"/>
          <a:ea typeface="+mj-ea"/>
          <a:cs typeface="+mj-cs"/>
        </a:defRPr>
      </a:lvl1pPr>
    </p:titleStyle>
    <p:bodyStyle>
      <a:lvl1pPr marL="685800" indent="-685800" algn="l" defTabSz="2743200" rtl="0" eaLnBrk="1" latinLnBrk="0" hangingPunct="1">
        <a:lnSpc>
          <a:spcPct val="90000"/>
        </a:lnSpc>
        <a:spcBef>
          <a:spcPts val="3000"/>
        </a:spcBef>
        <a:buFont typeface="Arial" panose="020B0604020202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jpeg"/><Relationship Id="rId18" Type="http://schemas.openxmlformats.org/officeDocument/2006/relationships/image" Target="../media/image18.jpg"/><Relationship Id="rId26" Type="http://schemas.openxmlformats.org/officeDocument/2006/relationships/image" Target="../media/image25.jpg"/><Relationship Id="rId3" Type="http://schemas.openxmlformats.org/officeDocument/2006/relationships/image" Target="../media/image3.png"/><Relationship Id="rId21" Type="http://schemas.openxmlformats.org/officeDocument/2006/relationships/chart" Target="../charts/chart1.xml"/><Relationship Id="rId7" Type="http://schemas.openxmlformats.org/officeDocument/2006/relationships/image" Target="../media/image7.png"/><Relationship Id="rId12" Type="http://schemas.openxmlformats.org/officeDocument/2006/relationships/image" Target="../media/image12.jpeg"/><Relationship Id="rId17" Type="http://schemas.openxmlformats.org/officeDocument/2006/relationships/image" Target="../media/image17.jpg"/><Relationship Id="rId25" Type="http://schemas.openxmlformats.org/officeDocument/2006/relationships/image" Target="../media/image24.png"/><Relationship Id="rId2" Type="http://schemas.openxmlformats.org/officeDocument/2006/relationships/image" Target="../media/image2.png"/><Relationship Id="rId16" Type="http://schemas.openxmlformats.org/officeDocument/2006/relationships/image" Target="../media/image16.jpeg"/><Relationship Id="rId20" Type="http://schemas.openxmlformats.org/officeDocument/2006/relationships/image" Target="../media/image20.jpe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jpeg"/><Relationship Id="rId24" Type="http://schemas.openxmlformats.org/officeDocument/2006/relationships/image" Target="../media/image23.png"/><Relationship Id="rId5" Type="http://schemas.openxmlformats.org/officeDocument/2006/relationships/image" Target="../media/image5.png"/><Relationship Id="rId15" Type="http://schemas.openxmlformats.org/officeDocument/2006/relationships/image" Target="../media/image15.jpeg"/><Relationship Id="rId23" Type="http://schemas.openxmlformats.org/officeDocument/2006/relationships/image" Target="../media/image22.jpeg"/><Relationship Id="rId28" Type="http://schemas.openxmlformats.org/officeDocument/2006/relationships/image" Target="../media/image27.jpg"/><Relationship Id="rId10" Type="http://schemas.openxmlformats.org/officeDocument/2006/relationships/image" Target="../media/image10.jpeg"/><Relationship Id="rId19" Type="http://schemas.openxmlformats.org/officeDocument/2006/relationships/image" Target="../media/image19.jpg"/><Relationship Id="rId4" Type="http://schemas.openxmlformats.org/officeDocument/2006/relationships/image" Target="../media/image4.png"/><Relationship Id="rId9" Type="http://schemas.openxmlformats.org/officeDocument/2006/relationships/image" Target="../media/image9.jpeg"/><Relationship Id="rId14" Type="http://schemas.openxmlformats.org/officeDocument/2006/relationships/image" Target="../media/image14.jpeg"/><Relationship Id="rId22" Type="http://schemas.openxmlformats.org/officeDocument/2006/relationships/image" Target="../media/image21.jpeg"/><Relationship Id="rId27"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6"/>
          <p:cNvSpPr txBox="1">
            <a:spLocks/>
          </p:cNvSpPr>
          <p:nvPr/>
        </p:nvSpPr>
        <p:spPr>
          <a:xfrm>
            <a:off x="13867828" y="31777097"/>
            <a:ext cx="12496482" cy="1589062"/>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spcBef>
                <a:spcPts val="600"/>
              </a:spcBef>
            </a:pPr>
            <a:r>
              <a:rPr lang="en-US" sz="2400" dirty="0">
                <a:solidFill>
                  <a:schemeClr val="tx1">
                    <a:lumMod val="75000"/>
                    <a:lumOff val="25000"/>
                  </a:schemeClr>
                </a:solidFill>
              </a:rPr>
              <a:t>Dr. Paul Evangelista (Colorado State University, Natural Resource Ecology Laboratory)</a:t>
            </a:r>
          </a:p>
          <a:p>
            <a:pPr>
              <a:spcBef>
                <a:spcPts val="600"/>
              </a:spcBef>
            </a:pPr>
            <a:r>
              <a:rPr lang="en-US" sz="2400" dirty="0">
                <a:solidFill>
                  <a:schemeClr val="tx1">
                    <a:lumMod val="75000"/>
                    <a:lumOff val="25000"/>
                  </a:schemeClr>
                </a:solidFill>
              </a:rPr>
              <a:t>Nicholas Young (Colorado State University, Natural Resource Ecology Laboratory)</a:t>
            </a:r>
          </a:p>
          <a:p>
            <a:pPr>
              <a:spcBef>
                <a:spcPts val="600"/>
              </a:spcBef>
            </a:pPr>
            <a:r>
              <a:rPr lang="en-US" sz="2400" dirty="0">
                <a:solidFill>
                  <a:schemeClr val="tx1">
                    <a:lumMod val="75000"/>
                    <a:lumOff val="25000"/>
                  </a:schemeClr>
                </a:solidFill>
              </a:rPr>
              <a:t>Tony Vorster (Colorado State University, Natural Resource Ecology Laboratory)</a:t>
            </a:r>
          </a:p>
          <a:p>
            <a:pPr>
              <a:spcBef>
                <a:spcPts val="600"/>
              </a:spcBef>
            </a:pPr>
            <a:r>
              <a:rPr lang="en-US" sz="2400" dirty="0">
                <a:solidFill>
                  <a:schemeClr val="tx1">
                    <a:lumMod val="75000"/>
                    <a:lumOff val="25000"/>
                  </a:schemeClr>
                </a:solidFill>
              </a:rPr>
              <a:t>Brian Woodward (Colorado State University, Natural Resource Ecology Laboratory)</a:t>
            </a:r>
          </a:p>
        </p:txBody>
      </p:sp>
      <p:sp>
        <p:nvSpPr>
          <p:cNvPr id="21" name="TextBox 20"/>
          <p:cNvSpPr txBox="1"/>
          <p:nvPr/>
        </p:nvSpPr>
        <p:spPr>
          <a:xfrm>
            <a:off x="13813608" y="30974979"/>
            <a:ext cx="12550701"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Acknowledgements</a:t>
            </a:r>
          </a:p>
        </p:txBody>
      </p:sp>
      <p:grpSp>
        <p:nvGrpSpPr>
          <p:cNvPr id="76" name="Group 75">
            <a:extLst>
              <a:ext uri="{FF2B5EF4-FFF2-40B4-BE49-F238E27FC236}">
                <a16:creationId xmlns:a16="http://schemas.microsoft.com/office/drawing/2014/main" id="{78F5827B-7E3E-4B1E-A5C1-C730870E06A8}"/>
              </a:ext>
            </a:extLst>
          </p:cNvPr>
          <p:cNvGrpSpPr/>
          <p:nvPr/>
        </p:nvGrpSpPr>
        <p:grpSpPr>
          <a:xfrm>
            <a:off x="920663" y="4970823"/>
            <a:ext cx="12626650" cy="7141202"/>
            <a:chOff x="920663" y="4970823"/>
            <a:chExt cx="12626650" cy="7141202"/>
          </a:xfrm>
        </p:grpSpPr>
        <p:sp>
          <p:nvSpPr>
            <p:cNvPr id="15" name="TextBox 14"/>
            <p:cNvSpPr txBox="1"/>
            <p:nvPr/>
          </p:nvSpPr>
          <p:spPr>
            <a:xfrm>
              <a:off x="925614" y="4970823"/>
              <a:ext cx="11516347"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Abstract</a:t>
              </a:r>
            </a:p>
          </p:txBody>
        </p:sp>
        <p:sp>
          <p:nvSpPr>
            <p:cNvPr id="34" name="Text Placeholder 16"/>
            <p:cNvSpPr txBox="1">
              <a:spLocks/>
            </p:cNvSpPr>
            <p:nvPr/>
          </p:nvSpPr>
          <p:spPr>
            <a:xfrm>
              <a:off x="920663" y="5749548"/>
              <a:ext cx="12626650" cy="6362477"/>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just"/>
              <a:r>
                <a:rPr lang="en-US" sz="2400" dirty="0">
                  <a:solidFill>
                    <a:schemeClr val="tx1">
                      <a:lumMod val="75000"/>
                      <a:lumOff val="25000"/>
                    </a:schemeClr>
                  </a:solidFill>
                </a:rPr>
                <a:t>Since the completion of the Flaming Gorge Dam in 1964, artificial flow releases along the Green River have promoted channel narrowing and encouraged non-native vegetation encroachment into the active stream channel. These changes in the Green River’s flow regime have reduced the backwater habitat of four native endangered fish species: the Colorado Pikeminnow (</a:t>
              </a:r>
              <a:r>
                <a:rPr lang="en-US" sz="2400" i="1" dirty="0" err="1">
                  <a:solidFill>
                    <a:schemeClr val="tx1">
                      <a:lumMod val="75000"/>
                      <a:lumOff val="25000"/>
                    </a:schemeClr>
                  </a:solidFill>
                </a:rPr>
                <a:t>Ptychocheilus</a:t>
              </a:r>
              <a:r>
                <a:rPr lang="en-US" sz="2400" i="1" dirty="0">
                  <a:solidFill>
                    <a:schemeClr val="tx1">
                      <a:lumMod val="75000"/>
                      <a:lumOff val="25000"/>
                    </a:schemeClr>
                  </a:solidFill>
                </a:rPr>
                <a:t> </a:t>
              </a:r>
              <a:r>
                <a:rPr lang="en-US" sz="2400" i="1" dirty="0" err="1">
                  <a:solidFill>
                    <a:schemeClr val="tx1">
                      <a:lumMod val="75000"/>
                      <a:lumOff val="25000"/>
                    </a:schemeClr>
                  </a:solidFill>
                </a:rPr>
                <a:t>lucius</a:t>
              </a:r>
              <a:r>
                <a:rPr lang="en-US" sz="2400" dirty="0">
                  <a:solidFill>
                    <a:schemeClr val="tx1">
                      <a:lumMod val="75000"/>
                      <a:lumOff val="25000"/>
                    </a:schemeClr>
                  </a:solidFill>
                </a:rPr>
                <a:t>), Razorback Sucker (</a:t>
              </a:r>
              <a:r>
                <a:rPr lang="en-US" sz="2400" i="1" dirty="0" err="1">
                  <a:solidFill>
                    <a:schemeClr val="tx1">
                      <a:lumMod val="75000"/>
                      <a:lumOff val="25000"/>
                    </a:schemeClr>
                  </a:solidFill>
                </a:rPr>
                <a:t>Xyrauchen</a:t>
              </a:r>
              <a:r>
                <a:rPr lang="en-US" sz="2400" i="1" dirty="0">
                  <a:solidFill>
                    <a:schemeClr val="tx1">
                      <a:lumMod val="75000"/>
                      <a:lumOff val="25000"/>
                    </a:schemeClr>
                  </a:solidFill>
                </a:rPr>
                <a:t> </a:t>
              </a:r>
              <a:r>
                <a:rPr lang="en-US" sz="2400" i="1" dirty="0" err="1">
                  <a:solidFill>
                    <a:schemeClr val="tx1">
                      <a:lumMod val="75000"/>
                      <a:lumOff val="25000"/>
                    </a:schemeClr>
                  </a:solidFill>
                </a:rPr>
                <a:t>texanus</a:t>
              </a:r>
              <a:r>
                <a:rPr lang="en-US" sz="2400" dirty="0">
                  <a:solidFill>
                    <a:schemeClr val="tx1">
                      <a:lumMod val="75000"/>
                      <a:lumOff val="25000"/>
                    </a:schemeClr>
                  </a:solidFill>
                </a:rPr>
                <a:t>), Humpback Chub (</a:t>
              </a:r>
              <a:r>
                <a:rPr lang="en-US" sz="2400" i="1" dirty="0">
                  <a:solidFill>
                    <a:schemeClr val="tx1">
                      <a:lumMod val="75000"/>
                      <a:lumOff val="25000"/>
                    </a:schemeClr>
                  </a:solidFill>
                </a:rPr>
                <a:t>Gila </a:t>
              </a:r>
              <a:r>
                <a:rPr lang="en-US" sz="2400" i="1" dirty="0" err="1">
                  <a:solidFill>
                    <a:schemeClr val="tx1">
                      <a:lumMod val="75000"/>
                      <a:lumOff val="25000"/>
                    </a:schemeClr>
                  </a:solidFill>
                </a:rPr>
                <a:t>cypha</a:t>
              </a:r>
              <a:r>
                <a:rPr lang="en-US" sz="2400" dirty="0">
                  <a:solidFill>
                    <a:schemeClr val="tx1">
                      <a:lumMod val="75000"/>
                      <a:lumOff val="25000"/>
                    </a:schemeClr>
                  </a:solidFill>
                </a:rPr>
                <a:t>), and </a:t>
              </a:r>
              <a:r>
                <a:rPr lang="en-US" sz="2400" dirty="0" err="1">
                  <a:solidFill>
                    <a:schemeClr val="tx1">
                      <a:lumMod val="75000"/>
                      <a:lumOff val="25000"/>
                    </a:schemeClr>
                  </a:solidFill>
                </a:rPr>
                <a:t>Bonytail</a:t>
              </a:r>
              <a:r>
                <a:rPr lang="en-US" sz="2400" dirty="0">
                  <a:solidFill>
                    <a:schemeClr val="tx1">
                      <a:lumMod val="75000"/>
                      <a:lumOff val="25000"/>
                    </a:schemeClr>
                  </a:solidFill>
                </a:rPr>
                <a:t> (</a:t>
              </a:r>
              <a:r>
                <a:rPr lang="en-US" sz="2400" i="1" dirty="0">
                  <a:solidFill>
                    <a:schemeClr val="tx1">
                      <a:lumMod val="75000"/>
                      <a:lumOff val="25000"/>
                    </a:schemeClr>
                  </a:solidFill>
                </a:rPr>
                <a:t>Gila elegans</a:t>
              </a:r>
              <a:r>
                <a:rPr lang="en-US" sz="2400" dirty="0">
                  <a:solidFill>
                    <a:schemeClr val="tx1">
                      <a:lumMod val="75000"/>
                      <a:lumOff val="25000"/>
                    </a:schemeClr>
                  </a:solidFill>
                </a:rPr>
                <a:t>). To promote population recovery, this project developed the River Morphology Evaluation Toolbox (RMET), a Google Earth Engine (GEE) tool, to more efficiently and cost-effectively monitor changes in vegetation and hydrology across large spatial and temporal scales. Using imagery collected from Landsat 5 Thematic Mapper (TM), Landsat 7 Enhanced Thematic Mapper Plus (ETM+), Landsat 8 Operational Land Imager (OLI) and Thermal Infrared Sensor (TIRS), Shuttle Radar Topography Mission (SRTM), and Sentinel-2 Multi Spectral Instrument (MSI) satellites, the team used the normalized difference vegetation index (NDVI), soil adjusted vegetation index (SAVI), modified normalized difference water index (MNDWI), and normalized difference water index (NDWI) to detect landcover changes. Trends in spectral index changes over user-selected focal years and the magnitudes of those changes were isolated and visualized through RMET. The project partners at the National Park Service and the Upper Colorado River Endangered Fish Recovery Program will use RMET to identify potential sites where changes in riparian vegetation and the active stream channel may have reduced fish habitat to make more informed recommendations for flow releases from the Flaming Gorge Dam.</a:t>
              </a:r>
            </a:p>
          </p:txBody>
        </p:sp>
      </p:grpSp>
      <p:sp>
        <p:nvSpPr>
          <p:cNvPr id="56" name="TextBox 55"/>
          <p:cNvSpPr txBox="1"/>
          <p:nvPr/>
        </p:nvSpPr>
        <p:spPr>
          <a:xfrm>
            <a:off x="16408400" y="34696400"/>
            <a:ext cx="10109200" cy="812801"/>
          </a:xfrm>
          <a:prstGeom prst="rect">
            <a:avLst/>
          </a:prstGeom>
          <a:noFill/>
        </p:spPr>
        <p:txBody>
          <a:bodyPr wrap="square" rtlCol="0" anchor="ctr">
            <a:noAutofit/>
          </a:bodyPr>
          <a:lstStyle/>
          <a:p>
            <a:pPr algn="r"/>
            <a:r>
              <a:rPr lang="en-US" sz="4000" dirty="0">
                <a:solidFill>
                  <a:schemeClr val="bg1"/>
                </a:solidFill>
                <a:latin typeface="+mj-lt"/>
              </a:rPr>
              <a:t>Colorado – Fort Collins| Summer 2018</a:t>
            </a:r>
          </a:p>
        </p:txBody>
      </p:sp>
      <p:sp>
        <p:nvSpPr>
          <p:cNvPr id="57" name="TextBox 56"/>
          <p:cNvSpPr txBox="1"/>
          <p:nvPr/>
        </p:nvSpPr>
        <p:spPr>
          <a:xfrm>
            <a:off x="3522133" y="34696400"/>
            <a:ext cx="11354452" cy="795867"/>
          </a:xfrm>
          <a:prstGeom prst="rect">
            <a:avLst/>
          </a:prstGeom>
          <a:noFill/>
        </p:spPr>
        <p:txBody>
          <a:bodyPr wrap="square" rtlCol="0" anchor="ctr">
            <a:noAutofit/>
          </a:bodyPr>
          <a:lstStyle/>
          <a:p>
            <a:r>
              <a:rPr lang="en-US" sz="4000" dirty="0">
                <a:solidFill>
                  <a:schemeClr val="bg1"/>
                </a:solidFill>
                <a:latin typeface="+mj-lt"/>
              </a:rPr>
              <a:t>Utah and Colorado Water Resources</a:t>
            </a:r>
          </a:p>
        </p:txBody>
      </p:sp>
      <p:sp>
        <p:nvSpPr>
          <p:cNvPr id="74" name="Subtitle"/>
          <p:cNvSpPr>
            <a:spLocks noGrp="1"/>
          </p:cNvSpPr>
          <p:nvPr>
            <p:ph type="body" sz="quarter" idx="13" hasCustomPrompt="1"/>
          </p:nvPr>
        </p:nvSpPr>
        <p:spPr>
          <a:xfrm>
            <a:off x="914398" y="419101"/>
            <a:ext cx="17221200" cy="2551126"/>
          </a:xfrm>
          <a:prstGeom prst="rect">
            <a:avLst/>
          </a:prstGeom>
        </p:spPr>
        <p:txBody>
          <a:bodyPr anchor="ctr"/>
          <a:lstStyle>
            <a:lvl1pPr marL="0" indent="0" algn="ctr">
              <a:spcBef>
                <a:spcPts val="0"/>
              </a:spcBef>
              <a:buNone/>
              <a:defRPr sz="6000" b="1" baseline="0">
                <a:solidFill>
                  <a:srgbClr val="EA7845"/>
                </a:solidFill>
                <a:latin typeface="+mj-lt"/>
              </a:defRPr>
            </a:lvl1pPr>
            <a:lvl2pPr>
              <a:defRPr sz="4800"/>
            </a:lvl2pPr>
            <a:lvl3pPr>
              <a:defRPr sz="4000"/>
            </a:lvl3pPr>
            <a:lvl4pPr>
              <a:defRPr sz="3600"/>
            </a:lvl4pPr>
            <a:lvl5pPr>
              <a:defRPr sz="3600"/>
            </a:lvl5pPr>
          </a:lstStyle>
          <a:p>
            <a:pPr lvl="0" algn="l"/>
            <a:r>
              <a:rPr lang="en-US" sz="5500" dirty="0">
                <a:solidFill>
                  <a:srgbClr val="389CC4"/>
                </a:solidFill>
              </a:rPr>
              <a:t>Designing a Modeling User Interface Incorporating Landsat to Monitor Changes in Riparian Vegetation and Endangered Fish Habitat</a:t>
            </a:r>
          </a:p>
        </p:txBody>
      </p:sp>
      <p:grpSp>
        <p:nvGrpSpPr>
          <p:cNvPr id="224" name="Group 223">
            <a:extLst>
              <a:ext uri="{FF2B5EF4-FFF2-40B4-BE49-F238E27FC236}">
                <a16:creationId xmlns:a16="http://schemas.microsoft.com/office/drawing/2014/main" id="{A4DABB53-392E-46B7-AC5B-9EE54C6CB4FD}"/>
              </a:ext>
            </a:extLst>
          </p:cNvPr>
          <p:cNvGrpSpPr/>
          <p:nvPr/>
        </p:nvGrpSpPr>
        <p:grpSpPr>
          <a:xfrm>
            <a:off x="922020" y="30501423"/>
            <a:ext cx="12619029" cy="2930052"/>
            <a:chOff x="922020" y="31156827"/>
            <a:chExt cx="12619029" cy="2930052"/>
          </a:xfrm>
        </p:grpSpPr>
        <p:sp>
          <p:nvSpPr>
            <p:cNvPr id="40" name="TextBox 39"/>
            <p:cNvSpPr txBox="1"/>
            <p:nvPr/>
          </p:nvSpPr>
          <p:spPr>
            <a:xfrm>
              <a:off x="922020" y="31156827"/>
              <a:ext cx="12619029"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Conclusions</a:t>
              </a:r>
            </a:p>
          </p:txBody>
        </p:sp>
        <p:sp>
          <p:nvSpPr>
            <p:cNvPr id="92" name="Text Placeholder 16"/>
            <p:cNvSpPr txBox="1">
              <a:spLocks/>
            </p:cNvSpPr>
            <p:nvPr/>
          </p:nvSpPr>
          <p:spPr>
            <a:xfrm>
              <a:off x="922021" y="31992897"/>
              <a:ext cx="12371821" cy="2093982"/>
            </a:xfrm>
            <a:prstGeom prst="rect">
              <a:avLst/>
            </a:prstGeom>
          </p:spPr>
          <p:txBody>
            <a:bodyPr numCol="1" spcCol="640080"/>
            <a:lstStyle>
              <a:lvl1pPr marL="457200" indent="-457200" algn="l" defTabSz="2743200" rtl="0" eaLnBrk="1" latinLnBrk="0" hangingPunct="1">
                <a:lnSpc>
                  <a:spcPct val="90000"/>
                </a:lnSpc>
                <a:spcBef>
                  <a:spcPts val="1800"/>
                </a:spcBef>
                <a:buClr>
                  <a:schemeClr val="accent1"/>
                </a:buClr>
                <a:buFont typeface="Webdings" panose="05030102010509060703" pitchFamily="18" charset="2"/>
                <a:buChar char="4"/>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just" fontAlgn="base">
                <a:spcBef>
                  <a:spcPts val="600"/>
                </a:spcBef>
              </a:pPr>
              <a:r>
                <a:rPr lang="en-US" sz="2400" dirty="0">
                  <a:solidFill>
                    <a:schemeClr val="tx1">
                      <a:lumMod val="75000"/>
                      <a:lumOff val="25000"/>
                    </a:schemeClr>
                  </a:solidFill>
                </a:rPr>
                <a:t>RMET via Google Earth Engine enables rapid detection of changes which have occurred in riparian vegetation distribution and hydrology features along the Green, Yampa, White, and Colorado Rivers since 1984. This enhances our project partners’ ability to identify areas of potential endangered fish habitat loss and determine locations for more intensive field studies.</a:t>
              </a:r>
            </a:p>
            <a:p>
              <a:pPr algn="just" fontAlgn="base">
                <a:spcBef>
                  <a:spcPts val="600"/>
                </a:spcBef>
              </a:pPr>
              <a:r>
                <a:rPr lang="en-US" sz="2400" dirty="0">
                  <a:solidFill>
                    <a:schemeClr val="tx1">
                      <a:lumMod val="75000"/>
                      <a:lumOff val="25000"/>
                    </a:schemeClr>
                  </a:solidFill>
                </a:rPr>
                <a:t>Spectral index change maps support the well-documented phenomenon of stream channel narrowing and vegetation encroachment into the active stream channel.</a:t>
              </a:r>
            </a:p>
          </p:txBody>
        </p:sp>
      </p:grpSp>
      <p:grpSp>
        <p:nvGrpSpPr>
          <p:cNvPr id="252" name="Group 251">
            <a:extLst>
              <a:ext uri="{FF2B5EF4-FFF2-40B4-BE49-F238E27FC236}">
                <a16:creationId xmlns:a16="http://schemas.microsoft.com/office/drawing/2014/main" id="{25CACE79-9BE6-4706-B102-6F68F2683A6E}"/>
              </a:ext>
            </a:extLst>
          </p:cNvPr>
          <p:cNvGrpSpPr/>
          <p:nvPr/>
        </p:nvGrpSpPr>
        <p:grpSpPr>
          <a:xfrm>
            <a:off x="13704570" y="4986227"/>
            <a:ext cx="12659739" cy="3047111"/>
            <a:chOff x="13704570" y="4986227"/>
            <a:chExt cx="12659739" cy="3047111"/>
          </a:xfrm>
        </p:grpSpPr>
        <p:sp>
          <p:nvSpPr>
            <p:cNvPr id="16" name="TextBox 15"/>
            <p:cNvSpPr txBox="1"/>
            <p:nvPr/>
          </p:nvSpPr>
          <p:spPr>
            <a:xfrm>
              <a:off x="13890951" y="4986227"/>
              <a:ext cx="12473358"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Objectives</a:t>
              </a:r>
            </a:p>
          </p:txBody>
        </p:sp>
        <p:sp>
          <p:nvSpPr>
            <p:cNvPr id="93" name="Text Placeholder 16"/>
            <p:cNvSpPr txBox="1">
              <a:spLocks/>
            </p:cNvSpPr>
            <p:nvPr/>
          </p:nvSpPr>
          <p:spPr>
            <a:xfrm>
              <a:off x="13704570" y="5762226"/>
              <a:ext cx="12659739" cy="2271112"/>
            </a:xfrm>
            <a:prstGeom prst="rect">
              <a:avLst/>
            </a:prstGeom>
          </p:spPr>
          <p:txBody>
            <a:bodyPr numCol="1" spcCol="640080"/>
            <a:lstStyle>
              <a:lvl1pPr marL="457200" indent="-457200" algn="l" defTabSz="2743200" rtl="0" eaLnBrk="1" latinLnBrk="0" hangingPunct="1">
                <a:lnSpc>
                  <a:spcPct val="90000"/>
                </a:lnSpc>
                <a:spcBef>
                  <a:spcPts val="1800"/>
                </a:spcBef>
                <a:buClr>
                  <a:schemeClr val="accent1"/>
                </a:buClr>
                <a:buFont typeface="Webdings" panose="05030102010509060703" pitchFamily="18" charset="2"/>
                <a:buChar char="4"/>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347663" indent="-347663" algn="just">
                <a:buClr>
                  <a:srgbClr val="389CC4"/>
                </a:buClr>
              </a:pPr>
              <a:r>
                <a:rPr lang="en-US" sz="2400" b="1" dirty="0">
                  <a:solidFill>
                    <a:srgbClr val="389CC4"/>
                  </a:solidFill>
                </a:rPr>
                <a:t>Test</a:t>
              </a:r>
              <a:r>
                <a:rPr lang="en-US" sz="2400" dirty="0"/>
                <a:t> </a:t>
              </a:r>
              <a:r>
                <a:rPr lang="en-US" sz="2400" dirty="0">
                  <a:solidFill>
                    <a:schemeClr val="tx1">
                      <a:lumMod val="75000"/>
                      <a:lumOff val="25000"/>
                    </a:schemeClr>
                  </a:solidFill>
                </a:rPr>
                <a:t>the feasibility of detecting river geomorphology change and vegetation encroachment using NASA Earth observations</a:t>
              </a:r>
            </a:p>
            <a:p>
              <a:pPr marL="347663" indent="-347663" algn="just">
                <a:spcBef>
                  <a:spcPts val="1200"/>
                </a:spcBef>
                <a:buClr>
                  <a:srgbClr val="389CC4"/>
                </a:buClr>
              </a:pPr>
              <a:r>
                <a:rPr lang="en-US" sz="2400" b="1" dirty="0">
                  <a:solidFill>
                    <a:srgbClr val="389CC4"/>
                  </a:solidFill>
                </a:rPr>
                <a:t>Create</a:t>
              </a:r>
              <a:r>
                <a:rPr lang="en-US" sz="2400" dirty="0"/>
                <a:t> </a:t>
              </a:r>
              <a:r>
                <a:rPr lang="en-US" sz="2400" dirty="0">
                  <a:solidFill>
                    <a:schemeClr val="tx1">
                      <a:lumMod val="75000"/>
                      <a:lumOff val="25000"/>
                    </a:schemeClr>
                  </a:solidFill>
                </a:rPr>
                <a:t>a model which uses vegetation and water spectral indices to create binary presence/absence maps</a:t>
              </a:r>
            </a:p>
            <a:p>
              <a:pPr marL="347663" indent="-347663" algn="just">
                <a:spcBef>
                  <a:spcPts val="1200"/>
                </a:spcBef>
                <a:buClr>
                  <a:srgbClr val="389CC4"/>
                </a:buClr>
              </a:pPr>
              <a:r>
                <a:rPr lang="en-US" sz="2400" b="1" dirty="0">
                  <a:solidFill>
                    <a:srgbClr val="389CC4"/>
                  </a:solidFill>
                </a:rPr>
                <a:t>Develop</a:t>
              </a:r>
              <a:r>
                <a:rPr lang="en-US" sz="2400" dirty="0"/>
                <a:t> </a:t>
              </a:r>
              <a:r>
                <a:rPr lang="en-US" sz="2400" dirty="0">
                  <a:solidFill>
                    <a:schemeClr val="tx1">
                      <a:lumMod val="75000"/>
                      <a:lumOff val="25000"/>
                    </a:schemeClr>
                  </a:solidFill>
                </a:rPr>
                <a:t>an interactive Google Earth Engine (GEE) tool and accompanying tutorial</a:t>
              </a:r>
            </a:p>
          </p:txBody>
        </p:sp>
      </p:grpSp>
      <p:grpSp>
        <p:nvGrpSpPr>
          <p:cNvPr id="26" name="Group 25">
            <a:extLst>
              <a:ext uri="{FF2B5EF4-FFF2-40B4-BE49-F238E27FC236}">
                <a16:creationId xmlns:a16="http://schemas.microsoft.com/office/drawing/2014/main" id="{622DBE37-19D2-4CD2-8FE6-464AB4AF0D6F}"/>
              </a:ext>
            </a:extLst>
          </p:cNvPr>
          <p:cNvGrpSpPr/>
          <p:nvPr/>
        </p:nvGrpSpPr>
        <p:grpSpPr>
          <a:xfrm>
            <a:off x="908057" y="26959338"/>
            <a:ext cx="12632991" cy="3110374"/>
            <a:chOff x="908057" y="26728834"/>
            <a:chExt cx="12632991" cy="3110374"/>
          </a:xfrm>
        </p:grpSpPr>
        <p:sp>
          <p:nvSpPr>
            <p:cNvPr id="19" name="TextBox 18"/>
            <p:cNvSpPr txBox="1"/>
            <p:nvPr/>
          </p:nvSpPr>
          <p:spPr>
            <a:xfrm>
              <a:off x="908057" y="26728834"/>
              <a:ext cx="12632991"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Earth Observations</a:t>
              </a:r>
            </a:p>
          </p:txBody>
        </p:sp>
        <p:grpSp>
          <p:nvGrpSpPr>
            <p:cNvPr id="24" name="Group 23">
              <a:extLst>
                <a:ext uri="{FF2B5EF4-FFF2-40B4-BE49-F238E27FC236}">
                  <a16:creationId xmlns:a16="http://schemas.microsoft.com/office/drawing/2014/main" id="{8AB0E523-3973-42C8-82F0-03E3E017D4D5}"/>
                </a:ext>
              </a:extLst>
            </p:cNvPr>
            <p:cNvGrpSpPr/>
            <p:nvPr/>
          </p:nvGrpSpPr>
          <p:grpSpPr>
            <a:xfrm>
              <a:off x="908058" y="27654036"/>
              <a:ext cx="12374529" cy="2185172"/>
              <a:chOff x="1250958" y="27654036"/>
              <a:chExt cx="12374529" cy="2185172"/>
            </a:xfrm>
          </p:grpSpPr>
          <p:grpSp>
            <p:nvGrpSpPr>
              <p:cNvPr id="240" name="Group 239">
                <a:extLst>
                  <a:ext uri="{FF2B5EF4-FFF2-40B4-BE49-F238E27FC236}">
                    <a16:creationId xmlns:a16="http://schemas.microsoft.com/office/drawing/2014/main" id="{7011B754-FD29-4EF5-978D-7A7BD0AEE0F6}"/>
                  </a:ext>
                </a:extLst>
              </p:cNvPr>
              <p:cNvGrpSpPr/>
              <p:nvPr/>
            </p:nvGrpSpPr>
            <p:grpSpPr>
              <a:xfrm>
                <a:off x="1250958" y="27654036"/>
                <a:ext cx="1980399" cy="2185172"/>
                <a:chOff x="13836375" y="15814215"/>
                <a:chExt cx="1980399" cy="2185172"/>
              </a:xfrm>
            </p:grpSpPr>
            <p:pic>
              <p:nvPicPr>
                <p:cNvPr id="63" name="Picture 62" descr="A satellite in space&#10;&#10;Description generated with high confidence">
                  <a:extLst>
                    <a:ext uri="{FF2B5EF4-FFF2-40B4-BE49-F238E27FC236}">
                      <a16:creationId xmlns:a16="http://schemas.microsoft.com/office/drawing/2014/main" id="{2E8AC6CF-01DC-45E5-9387-A61E9CEB6B67}"/>
                    </a:ext>
                  </a:extLst>
                </p:cNvPr>
                <p:cNvPicPr>
                  <a:picLocks/>
                </p:cNvPicPr>
                <p:nvPr/>
              </p:nvPicPr>
              <p:blipFill>
                <a:blip r:embed="rId2">
                  <a:extLst>
                    <a:ext uri="{28A0092B-C50C-407E-A947-70E740481C1C}">
                      <a14:useLocalDpi xmlns:a14="http://schemas.microsoft.com/office/drawing/2010/main"/>
                    </a:ext>
                  </a:extLst>
                </a:blip>
                <a:stretch>
                  <a:fillRect/>
                </a:stretch>
              </p:blipFill>
              <p:spPr>
                <a:xfrm>
                  <a:off x="14003614" y="15814215"/>
                  <a:ext cx="1645920" cy="1645920"/>
                </a:xfrm>
                <a:prstGeom prst="rect">
                  <a:avLst/>
                </a:prstGeom>
              </p:spPr>
            </p:pic>
            <p:sp>
              <p:nvSpPr>
                <p:cNvPr id="184" name="Text Placeholder 16">
                  <a:extLst>
                    <a:ext uri="{FF2B5EF4-FFF2-40B4-BE49-F238E27FC236}">
                      <a16:creationId xmlns:a16="http://schemas.microsoft.com/office/drawing/2014/main" id="{671D3739-BF81-45F7-9286-2236B9146285}"/>
                    </a:ext>
                  </a:extLst>
                </p:cNvPr>
                <p:cNvSpPr txBox="1">
                  <a:spLocks/>
                </p:cNvSpPr>
                <p:nvPr/>
              </p:nvSpPr>
              <p:spPr>
                <a:xfrm>
                  <a:off x="13836375" y="17529802"/>
                  <a:ext cx="1980399" cy="469585"/>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r>
                    <a:rPr lang="en-US" sz="2400" dirty="0">
                      <a:solidFill>
                        <a:schemeClr val="tx1">
                          <a:lumMod val="75000"/>
                          <a:lumOff val="25000"/>
                        </a:schemeClr>
                      </a:solidFill>
                    </a:rPr>
                    <a:t>Landsat 5 TM</a:t>
                  </a:r>
                </a:p>
              </p:txBody>
            </p:sp>
          </p:grpSp>
          <p:grpSp>
            <p:nvGrpSpPr>
              <p:cNvPr id="241" name="Group 240">
                <a:extLst>
                  <a:ext uri="{FF2B5EF4-FFF2-40B4-BE49-F238E27FC236}">
                    <a16:creationId xmlns:a16="http://schemas.microsoft.com/office/drawing/2014/main" id="{CF694E80-066D-40C8-A829-84C6166D4515}"/>
                  </a:ext>
                </a:extLst>
              </p:cNvPr>
              <p:cNvGrpSpPr/>
              <p:nvPr/>
            </p:nvGrpSpPr>
            <p:grpSpPr>
              <a:xfrm>
                <a:off x="3743387" y="27988017"/>
                <a:ext cx="2404814" cy="1851191"/>
                <a:chOff x="16407788" y="16148196"/>
                <a:chExt cx="2404814" cy="1851191"/>
              </a:xfrm>
            </p:grpSpPr>
            <p:pic>
              <p:nvPicPr>
                <p:cNvPr id="183" name="Picture 182" descr="A satellite in space&#10;&#10;Description generated with high confidence">
                  <a:extLst>
                    <a:ext uri="{FF2B5EF4-FFF2-40B4-BE49-F238E27FC236}">
                      <a16:creationId xmlns:a16="http://schemas.microsoft.com/office/drawing/2014/main" id="{9394CB86-594B-4908-B715-75D8133D512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6407788" y="16148196"/>
                  <a:ext cx="2404814" cy="977959"/>
                </a:xfrm>
                <a:prstGeom prst="rect">
                  <a:avLst/>
                </a:prstGeom>
              </p:spPr>
            </p:pic>
            <p:sp>
              <p:nvSpPr>
                <p:cNvPr id="186" name="Text Placeholder 16">
                  <a:extLst>
                    <a:ext uri="{FF2B5EF4-FFF2-40B4-BE49-F238E27FC236}">
                      <a16:creationId xmlns:a16="http://schemas.microsoft.com/office/drawing/2014/main" id="{8384E895-8C8D-403F-9AF1-D0A9C625FDD0}"/>
                    </a:ext>
                  </a:extLst>
                </p:cNvPr>
                <p:cNvSpPr txBox="1">
                  <a:spLocks/>
                </p:cNvSpPr>
                <p:nvPr/>
              </p:nvSpPr>
              <p:spPr>
                <a:xfrm>
                  <a:off x="16479358" y="17529802"/>
                  <a:ext cx="2261675" cy="469585"/>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r>
                    <a:rPr lang="en-US" sz="2400" dirty="0">
                      <a:solidFill>
                        <a:schemeClr val="tx1">
                          <a:lumMod val="75000"/>
                          <a:lumOff val="25000"/>
                        </a:schemeClr>
                      </a:solidFill>
                    </a:rPr>
                    <a:t>Landsat 7 ETM+</a:t>
                  </a:r>
                </a:p>
              </p:txBody>
            </p:sp>
          </p:grpSp>
          <p:grpSp>
            <p:nvGrpSpPr>
              <p:cNvPr id="242" name="Group 241">
                <a:extLst>
                  <a:ext uri="{FF2B5EF4-FFF2-40B4-BE49-F238E27FC236}">
                    <a16:creationId xmlns:a16="http://schemas.microsoft.com/office/drawing/2014/main" id="{A623AC5E-9C4C-4DF2-8302-0F4AD768839B}"/>
                  </a:ext>
                </a:extLst>
              </p:cNvPr>
              <p:cNvGrpSpPr/>
              <p:nvPr/>
            </p:nvGrpSpPr>
            <p:grpSpPr>
              <a:xfrm>
                <a:off x="6660231" y="27654036"/>
                <a:ext cx="1980399" cy="2185172"/>
                <a:chOff x="19334548" y="15814215"/>
                <a:chExt cx="1980399" cy="2185172"/>
              </a:xfrm>
            </p:grpSpPr>
            <p:pic>
              <p:nvPicPr>
                <p:cNvPr id="67" name="Picture 66" descr="A satellite in space&#10;&#10;Description generated with high confidence">
                  <a:extLst>
                    <a:ext uri="{FF2B5EF4-FFF2-40B4-BE49-F238E27FC236}">
                      <a16:creationId xmlns:a16="http://schemas.microsoft.com/office/drawing/2014/main" id="{E7E173C3-ECAC-4AEA-94E4-2F1C3A580008}"/>
                    </a:ext>
                  </a:extLst>
                </p:cNvPr>
                <p:cNvPicPr>
                  <a:picLocks/>
                </p:cNvPicPr>
                <p:nvPr/>
              </p:nvPicPr>
              <p:blipFill>
                <a:blip r:embed="rId4">
                  <a:extLst>
                    <a:ext uri="{28A0092B-C50C-407E-A947-70E740481C1C}">
                      <a14:useLocalDpi xmlns:a14="http://schemas.microsoft.com/office/drawing/2010/main"/>
                    </a:ext>
                  </a:extLst>
                </a:blip>
                <a:stretch>
                  <a:fillRect/>
                </a:stretch>
              </p:blipFill>
              <p:spPr>
                <a:xfrm>
                  <a:off x="19501787" y="15814215"/>
                  <a:ext cx="1645920" cy="1645920"/>
                </a:xfrm>
                <a:prstGeom prst="rect">
                  <a:avLst/>
                </a:prstGeom>
              </p:spPr>
            </p:pic>
            <p:sp>
              <p:nvSpPr>
                <p:cNvPr id="187" name="Text Placeholder 16">
                  <a:extLst>
                    <a:ext uri="{FF2B5EF4-FFF2-40B4-BE49-F238E27FC236}">
                      <a16:creationId xmlns:a16="http://schemas.microsoft.com/office/drawing/2014/main" id="{3284FAA7-722D-4B49-B8A1-8B727116CB8A}"/>
                    </a:ext>
                  </a:extLst>
                </p:cNvPr>
                <p:cNvSpPr txBox="1">
                  <a:spLocks/>
                </p:cNvSpPr>
                <p:nvPr/>
              </p:nvSpPr>
              <p:spPr>
                <a:xfrm>
                  <a:off x="19334548" y="17529802"/>
                  <a:ext cx="1980399" cy="469585"/>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r>
                    <a:rPr lang="en-US" sz="2400" dirty="0">
                      <a:solidFill>
                        <a:schemeClr val="tx1">
                          <a:lumMod val="75000"/>
                          <a:lumOff val="25000"/>
                        </a:schemeClr>
                      </a:solidFill>
                    </a:rPr>
                    <a:t>Landsat 8 OLI</a:t>
                  </a:r>
                </a:p>
              </p:txBody>
            </p:sp>
          </p:grpSp>
          <p:grpSp>
            <p:nvGrpSpPr>
              <p:cNvPr id="243" name="Group 242">
                <a:extLst>
                  <a:ext uri="{FF2B5EF4-FFF2-40B4-BE49-F238E27FC236}">
                    <a16:creationId xmlns:a16="http://schemas.microsoft.com/office/drawing/2014/main" id="{8F7430D8-5AD3-4DEC-B92D-FB487DC1D27C}"/>
                  </a:ext>
                </a:extLst>
              </p:cNvPr>
              <p:cNvGrpSpPr/>
              <p:nvPr/>
            </p:nvGrpSpPr>
            <p:grpSpPr>
              <a:xfrm>
                <a:off x="9152660" y="27654036"/>
                <a:ext cx="1980399" cy="2185172"/>
                <a:chOff x="21871427" y="15814215"/>
                <a:chExt cx="1980399" cy="2185172"/>
              </a:xfrm>
            </p:grpSpPr>
            <p:pic>
              <p:nvPicPr>
                <p:cNvPr id="181" name="Picture 180" descr="A satellite in space&#10;&#10;Description generated with high confidence">
                  <a:extLst>
                    <a:ext uri="{FF2B5EF4-FFF2-40B4-BE49-F238E27FC236}">
                      <a16:creationId xmlns:a16="http://schemas.microsoft.com/office/drawing/2014/main" id="{2C919654-C721-4F81-AB34-6B3B541EB734}"/>
                    </a:ext>
                  </a:extLst>
                </p:cNvPr>
                <p:cNvPicPr>
                  <a:picLocks/>
                </p:cNvPicPr>
                <p:nvPr/>
              </p:nvPicPr>
              <p:blipFill>
                <a:blip r:embed="rId5">
                  <a:extLst>
                    <a:ext uri="{28A0092B-C50C-407E-A947-70E740481C1C}">
                      <a14:useLocalDpi xmlns:a14="http://schemas.microsoft.com/office/drawing/2010/main"/>
                    </a:ext>
                  </a:extLst>
                </a:blip>
                <a:stretch>
                  <a:fillRect/>
                </a:stretch>
              </p:blipFill>
              <p:spPr>
                <a:xfrm>
                  <a:off x="22038666" y="15814215"/>
                  <a:ext cx="1645920" cy="1645920"/>
                </a:xfrm>
                <a:prstGeom prst="rect">
                  <a:avLst/>
                </a:prstGeom>
              </p:spPr>
            </p:pic>
            <p:sp>
              <p:nvSpPr>
                <p:cNvPr id="188" name="Text Placeholder 16">
                  <a:extLst>
                    <a:ext uri="{FF2B5EF4-FFF2-40B4-BE49-F238E27FC236}">
                      <a16:creationId xmlns:a16="http://schemas.microsoft.com/office/drawing/2014/main" id="{EBF07FB0-4A17-4128-AE6A-18854737A400}"/>
                    </a:ext>
                  </a:extLst>
                </p:cNvPr>
                <p:cNvSpPr txBox="1">
                  <a:spLocks/>
                </p:cNvSpPr>
                <p:nvPr/>
              </p:nvSpPr>
              <p:spPr>
                <a:xfrm>
                  <a:off x="21871427" y="17529802"/>
                  <a:ext cx="1980399" cy="469585"/>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r>
                    <a:rPr lang="en-US" sz="2400" dirty="0">
                      <a:solidFill>
                        <a:schemeClr val="tx1">
                          <a:lumMod val="75000"/>
                          <a:lumOff val="25000"/>
                        </a:schemeClr>
                      </a:solidFill>
                    </a:rPr>
                    <a:t>Sentinel-2 MSI</a:t>
                  </a:r>
                </a:p>
              </p:txBody>
            </p:sp>
          </p:grpSp>
          <p:grpSp>
            <p:nvGrpSpPr>
              <p:cNvPr id="244" name="Group 243">
                <a:extLst>
                  <a:ext uri="{FF2B5EF4-FFF2-40B4-BE49-F238E27FC236}">
                    <a16:creationId xmlns:a16="http://schemas.microsoft.com/office/drawing/2014/main" id="{4AC56ED7-595C-456F-8D4E-D100DBC14A45}"/>
                  </a:ext>
                </a:extLst>
              </p:cNvPr>
              <p:cNvGrpSpPr/>
              <p:nvPr/>
            </p:nvGrpSpPr>
            <p:grpSpPr>
              <a:xfrm>
                <a:off x="11645088" y="27654036"/>
                <a:ext cx="1980399" cy="2185172"/>
                <a:chOff x="24408305" y="15814215"/>
                <a:chExt cx="1980399" cy="2185172"/>
              </a:xfrm>
            </p:grpSpPr>
            <p:pic>
              <p:nvPicPr>
                <p:cNvPr id="179" name="Picture 178" descr="A picture containing transport&#10;&#10;Description generated with very high confidence">
                  <a:extLst>
                    <a:ext uri="{FF2B5EF4-FFF2-40B4-BE49-F238E27FC236}">
                      <a16:creationId xmlns:a16="http://schemas.microsoft.com/office/drawing/2014/main" id="{22971B2E-689B-4233-9A98-25EC76D9449E}"/>
                    </a:ext>
                  </a:extLst>
                </p:cNvPr>
                <p:cNvPicPr>
                  <a:picLocks/>
                </p:cNvPicPr>
                <p:nvPr/>
              </p:nvPicPr>
              <p:blipFill>
                <a:blip r:embed="rId6">
                  <a:extLst>
                    <a:ext uri="{28A0092B-C50C-407E-A947-70E740481C1C}">
                      <a14:useLocalDpi xmlns:a14="http://schemas.microsoft.com/office/drawing/2010/main"/>
                    </a:ext>
                  </a:extLst>
                </a:blip>
                <a:stretch>
                  <a:fillRect/>
                </a:stretch>
              </p:blipFill>
              <p:spPr>
                <a:xfrm>
                  <a:off x="24575544" y="15814215"/>
                  <a:ext cx="1645920" cy="1645920"/>
                </a:xfrm>
                <a:prstGeom prst="rect">
                  <a:avLst/>
                </a:prstGeom>
              </p:spPr>
            </p:pic>
            <p:sp>
              <p:nvSpPr>
                <p:cNvPr id="189" name="Text Placeholder 16">
                  <a:extLst>
                    <a:ext uri="{FF2B5EF4-FFF2-40B4-BE49-F238E27FC236}">
                      <a16:creationId xmlns:a16="http://schemas.microsoft.com/office/drawing/2014/main" id="{AFBD16A7-4CAE-4759-99FB-17F57C41C930}"/>
                    </a:ext>
                  </a:extLst>
                </p:cNvPr>
                <p:cNvSpPr txBox="1">
                  <a:spLocks/>
                </p:cNvSpPr>
                <p:nvPr/>
              </p:nvSpPr>
              <p:spPr>
                <a:xfrm>
                  <a:off x="24408305" y="17529802"/>
                  <a:ext cx="1980399" cy="469585"/>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r>
                    <a:rPr lang="en-US" sz="2400" dirty="0">
                      <a:solidFill>
                        <a:schemeClr val="tx1">
                          <a:lumMod val="75000"/>
                          <a:lumOff val="25000"/>
                        </a:schemeClr>
                      </a:solidFill>
                    </a:rPr>
                    <a:t>SRTM</a:t>
                  </a:r>
                </a:p>
              </p:txBody>
            </p:sp>
          </p:grpSp>
        </p:grpSp>
      </p:grpSp>
      <p:grpSp>
        <p:nvGrpSpPr>
          <p:cNvPr id="253" name="Group 252">
            <a:extLst>
              <a:ext uri="{FF2B5EF4-FFF2-40B4-BE49-F238E27FC236}">
                <a16:creationId xmlns:a16="http://schemas.microsoft.com/office/drawing/2014/main" id="{D3C180D4-13BF-48B1-B3E4-8C48D1CD57AD}"/>
              </a:ext>
            </a:extLst>
          </p:cNvPr>
          <p:cNvGrpSpPr/>
          <p:nvPr/>
        </p:nvGrpSpPr>
        <p:grpSpPr>
          <a:xfrm>
            <a:off x="13704570" y="8309087"/>
            <a:ext cx="12659739" cy="3200400"/>
            <a:chOff x="13704570" y="8173159"/>
            <a:chExt cx="12659739" cy="3200400"/>
          </a:xfrm>
        </p:grpSpPr>
        <p:sp>
          <p:nvSpPr>
            <p:cNvPr id="22" name="TextBox 21"/>
            <p:cNvSpPr txBox="1"/>
            <p:nvPr/>
          </p:nvSpPr>
          <p:spPr>
            <a:xfrm>
              <a:off x="13779547" y="8321402"/>
              <a:ext cx="12584762"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Project Partners</a:t>
              </a:r>
            </a:p>
          </p:txBody>
        </p:sp>
        <p:sp>
          <p:nvSpPr>
            <p:cNvPr id="245" name="Text Placeholder 16">
              <a:extLst>
                <a:ext uri="{FF2B5EF4-FFF2-40B4-BE49-F238E27FC236}">
                  <a16:creationId xmlns:a16="http://schemas.microsoft.com/office/drawing/2014/main" id="{157BFDEE-368B-43F9-B963-692D3B7BBA21}"/>
                </a:ext>
              </a:extLst>
            </p:cNvPr>
            <p:cNvSpPr txBox="1">
              <a:spLocks/>
            </p:cNvSpPr>
            <p:nvPr/>
          </p:nvSpPr>
          <p:spPr>
            <a:xfrm>
              <a:off x="13704570" y="9099519"/>
              <a:ext cx="12659739" cy="2125798"/>
            </a:xfrm>
            <a:prstGeom prst="rect">
              <a:avLst/>
            </a:prstGeom>
          </p:spPr>
          <p:txBody>
            <a:bodyPr numCol="1" spcCol="640080"/>
            <a:lstStyle>
              <a:lvl1pPr marL="457200" indent="-457200" algn="l" defTabSz="2743200" rtl="0" eaLnBrk="1" latinLnBrk="0" hangingPunct="1">
                <a:lnSpc>
                  <a:spcPct val="90000"/>
                </a:lnSpc>
                <a:spcBef>
                  <a:spcPts val="1800"/>
                </a:spcBef>
                <a:buClr>
                  <a:schemeClr val="accent1"/>
                </a:buClr>
                <a:buFont typeface="Webdings" panose="05030102010509060703" pitchFamily="18" charset="2"/>
                <a:buChar char="4"/>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347663" indent="-347663" algn="just">
                <a:buClr>
                  <a:srgbClr val="389CC4"/>
                </a:buClr>
              </a:pPr>
              <a:r>
                <a:rPr lang="en-US" sz="2400" dirty="0">
                  <a:solidFill>
                    <a:schemeClr val="tx1">
                      <a:lumMod val="75000"/>
                      <a:lumOff val="25000"/>
                    </a:schemeClr>
                  </a:solidFill>
                </a:rPr>
                <a:t>National Park Service, Water Resources Division</a:t>
              </a:r>
            </a:p>
            <a:p>
              <a:pPr marL="347663" indent="-347663" algn="just">
                <a:lnSpc>
                  <a:spcPct val="100000"/>
                </a:lnSpc>
                <a:spcBef>
                  <a:spcPts val="1200"/>
                </a:spcBef>
                <a:buClr>
                  <a:srgbClr val="389CC4"/>
                </a:buClr>
              </a:pPr>
              <a:r>
                <a:rPr lang="en-US" sz="2400" dirty="0">
                  <a:solidFill>
                    <a:schemeClr val="tx1">
                      <a:lumMod val="75000"/>
                      <a:lumOff val="25000"/>
                    </a:schemeClr>
                  </a:solidFill>
                </a:rPr>
                <a:t>National Park Service, Inventory &amp; Monitoring Division, </a:t>
              </a:r>
            </a:p>
            <a:p>
              <a:pPr marL="0" indent="0" algn="just">
                <a:lnSpc>
                  <a:spcPct val="100000"/>
                </a:lnSpc>
                <a:spcBef>
                  <a:spcPts val="0"/>
                </a:spcBef>
                <a:buClr>
                  <a:srgbClr val="389CC4"/>
                </a:buClr>
                <a:buNone/>
              </a:pPr>
              <a:r>
                <a:rPr lang="en-US" sz="2400" dirty="0">
                  <a:solidFill>
                    <a:schemeClr val="tx1">
                      <a:lumMod val="75000"/>
                      <a:lumOff val="25000"/>
                    </a:schemeClr>
                  </a:solidFill>
                </a:rPr>
                <a:t>    Northern Colorado Plateau Network</a:t>
              </a:r>
            </a:p>
            <a:p>
              <a:pPr marL="347663" indent="-347663" algn="just">
                <a:spcBef>
                  <a:spcPts val="1200"/>
                </a:spcBef>
                <a:buClr>
                  <a:srgbClr val="389CC4"/>
                </a:buClr>
              </a:pPr>
              <a:r>
                <a:rPr lang="en-US" sz="2400" dirty="0">
                  <a:solidFill>
                    <a:schemeClr val="tx1">
                      <a:lumMod val="75000"/>
                      <a:lumOff val="25000"/>
                    </a:schemeClr>
                  </a:solidFill>
                </a:rPr>
                <a:t>Upper Colorado River Endangered Fish Recovery Program </a:t>
              </a:r>
            </a:p>
            <a:p>
              <a:pPr marL="0" indent="0" algn="just">
                <a:spcBef>
                  <a:spcPts val="600"/>
                </a:spcBef>
                <a:buClr>
                  <a:srgbClr val="389CC4"/>
                </a:buClr>
                <a:buNone/>
              </a:pPr>
              <a:endParaRPr lang="en-US" sz="2400" dirty="0">
                <a:solidFill>
                  <a:schemeClr val="tx1">
                    <a:lumMod val="75000"/>
                    <a:lumOff val="25000"/>
                  </a:schemeClr>
                </a:solidFill>
              </a:endParaRPr>
            </a:p>
          </p:txBody>
        </p:sp>
        <p:pic>
          <p:nvPicPr>
            <p:cNvPr id="1026" name="Picture 2" descr="https://lh3.googleusercontent.com/PBMrMoyDi7avrVHyjpOPwUPX_NWyaStaczftOskzsFE6uD1vYYYK5KYS_VKQbZVRCK3e9dXq1C86pyXK3tQkcDN93RgTp-jnzR_3-dMuGAlhq5UwdY09-slI22fZoRY2vJP24ifg07Y">
              <a:extLst>
                <a:ext uri="{FF2B5EF4-FFF2-40B4-BE49-F238E27FC236}">
                  <a16:creationId xmlns:a16="http://schemas.microsoft.com/office/drawing/2014/main" id="{1C680147-F153-456C-A34A-6CAE20584C2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2407940" y="8173159"/>
              <a:ext cx="2459977" cy="3200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sp>
        <p:nvSpPr>
          <p:cNvPr id="17" name="TextBox 16"/>
          <p:cNvSpPr txBox="1"/>
          <p:nvPr/>
        </p:nvSpPr>
        <p:spPr>
          <a:xfrm>
            <a:off x="925614" y="11785235"/>
            <a:ext cx="12615436"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Methodology</a:t>
            </a:r>
          </a:p>
        </p:txBody>
      </p:sp>
      <p:grpSp>
        <p:nvGrpSpPr>
          <p:cNvPr id="77" name="Group 76">
            <a:extLst>
              <a:ext uri="{FF2B5EF4-FFF2-40B4-BE49-F238E27FC236}">
                <a16:creationId xmlns:a16="http://schemas.microsoft.com/office/drawing/2014/main" id="{B066BCF6-5D71-4051-AC03-0C32F0912047}"/>
              </a:ext>
            </a:extLst>
          </p:cNvPr>
          <p:cNvGrpSpPr/>
          <p:nvPr/>
        </p:nvGrpSpPr>
        <p:grpSpPr>
          <a:xfrm>
            <a:off x="4073220" y="16970141"/>
            <a:ext cx="6320225" cy="893404"/>
            <a:chOff x="3783618" y="17046341"/>
            <a:chExt cx="6320225" cy="893404"/>
          </a:xfrm>
        </p:grpSpPr>
        <p:cxnSp>
          <p:nvCxnSpPr>
            <p:cNvPr id="140" name="Shape 203">
              <a:extLst>
                <a:ext uri="{FF2B5EF4-FFF2-40B4-BE49-F238E27FC236}">
                  <a16:creationId xmlns:a16="http://schemas.microsoft.com/office/drawing/2014/main" id="{8F0F0EAF-6BBE-4058-A965-1848FC1BD5BB}"/>
                </a:ext>
              </a:extLst>
            </p:cNvPr>
            <p:cNvCxnSpPr>
              <a:stCxn id="167" idx="3"/>
              <a:endCxn id="163" idx="0"/>
            </p:cNvCxnSpPr>
            <p:nvPr/>
          </p:nvCxnSpPr>
          <p:spPr>
            <a:xfrm rot="10800000" flipH="1">
              <a:off x="4146112" y="17635995"/>
              <a:ext cx="5759237" cy="15300"/>
            </a:xfrm>
            <a:prstGeom prst="straightConnector1">
              <a:avLst/>
            </a:prstGeom>
            <a:noFill/>
            <a:ln w="38100" cap="flat" cmpd="sng">
              <a:solidFill>
                <a:srgbClr val="0070C0"/>
              </a:solidFill>
              <a:prstDash val="dash"/>
              <a:miter lim="8000"/>
              <a:headEnd type="none" w="sm" len="sm"/>
              <a:tailEnd type="none" w="sm" len="sm"/>
            </a:ln>
          </p:spPr>
        </p:cxnSp>
        <p:grpSp>
          <p:nvGrpSpPr>
            <p:cNvPr id="141" name="Shape 206">
              <a:extLst>
                <a:ext uri="{FF2B5EF4-FFF2-40B4-BE49-F238E27FC236}">
                  <a16:creationId xmlns:a16="http://schemas.microsoft.com/office/drawing/2014/main" id="{A0D9B092-21ED-4841-93ED-EF2522EEC15B}"/>
                </a:ext>
              </a:extLst>
            </p:cNvPr>
            <p:cNvGrpSpPr/>
            <p:nvPr/>
          </p:nvGrpSpPr>
          <p:grpSpPr>
            <a:xfrm>
              <a:off x="5713207" y="17046348"/>
              <a:ext cx="984722" cy="877935"/>
              <a:chOff x="4972568" y="5737107"/>
              <a:chExt cx="937200" cy="877935"/>
            </a:xfrm>
          </p:grpSpPr>
          <p:sp>
            <p:nvSpPr>
              <p:cNvPr id="168" name="Shape 207">
                <a:extLst>
                  <a:ext uri="{FF2B5EF4-FFF2-40B4-BE49-F238E27FC236}">
                    <a16:creationId xmlns:a16="http://schemas.microsoft.com/office/drawing/2014/main" id="{24031DAE-8FE3-4D88-892B-A003B86FBCED}"/>
                  </a:ext>
                </a:extLst>
              </p:cNvPr>
              <p:cNvSpPr txBox="1"/>
              <p:nvPr/>
            </p:nvSpPr>
            <p:spPr>
              <a:xfrm>
                <a:off x="4972568" y="5737107"/>
                <a:ext cx="937200" cy="3033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3A3A3A"/>
                  </a:buClr>
                  <a:buSzPts val="375"/>
                  <a:buFont typeface="Century Gothic"/>
                  <a:buNone/>
                </a:pPr>
                <a:r>
                  <a:rPr lang="en-US" sz="1600" b="0" i="0" u="none" strike="noStrike" cap="none">
                    <a:solidFill>
                      <a:schemeClr val="tx1">
                        <a:lumMod val="75000"/>
                        <a:lumOff val="25000"/>
                      </a:schemeClr>
                    </a:solidFill>
                    <a:latin typeface="Century Gothic"/>
                    <a:ea typeface="Century Gothic"/>
                    <a:cs typeface="Century Gothic"/>
                    <a:sym typeface="Century Gothic"/>
                  </a:rPr>
                  <a:t>Data</a:t>
                </a:r>
                <a:endParaRPr sz="1600" b="0" i="0" u="none" strike="noStrike" cap="none">
                  <a:solidFill>
                    <a:schemeClr val="tx1">
                      <a:lumMod val="75000"/>
                      <a:lumOff val="25000"/>
                    </a:schemeClr>
                  </a:solidFill>
                  <a:latin typeface="Century Gothic"/>
                  <a:ea typeface="Century Gothic"/>
                  <a:cs typeface="Century Gothic"/>
                  <a:sym typeface="Century Gothic"/>
                </a:endParaRPr>
              </a:p>
            </p:txBody>
          </p:sp>
          <p:sp>
            <p:nvSpPr>
              <p:cNvPr id="169" name="Shape 208">
                <a:extLst>
                  <a:ext uri="{FF2B5EF4-FFF2-40B4-BE49-F238E27FC236}">
                    <a16:creationId xmlns:a16="http://schemas.microsoft.com/office/drawing/2014/main" id="{0579B782-9583-4DA1-ABF8-E0EDA5D4D690}"/>
                  </a:ext>
                </a:extLst>
              </p:cNvPr>
              <p:cNvSpPr/>
              <p:nvPr/>
            </p:nvSpPr>
            <p:spPr>
              <a:xfrm>
                <a:off x="5080418" y="6038142"/>
                <a:ext cx="721500" cy="576900"/>
              </a:xfrm>
              <a:prstGeom prst="hexagon">
                <a:avLst>
                  <a:gd name="adj" fmla="val 25000"/>
                  <a:gd name="vf" fmla="val 115470"/>
                </a:avLst>
              </a:prstGeom>
              <a:solidFill>
                <a:srgbClr val="3D85C6"/>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300"/>
                  <a:buFont typeface="Century Gothic"/>
                  <a:buNone/>
                </a:pPr>
                <a:r>
                  <a:rPr lang="en-US" sz="2000" b="1" i="0" u="none" strike="noStrike" cap="none">
                    <a:solidFill>
                      <a:srgbClr val="FFFFFF"/>
                    </a:solidFill>
                    <a:latin typeface="Century Gothic"/>
                    <a:ea typeface="Century Gothic"/>
                    <a:cs typeface="Century Gothic"/>
                    <a:sym typeface="Century Gothic"/>
                  </a:rPr>
                  <a:t>2</a:t>
                </a:r>
                <a:endParaRPr sz="2000" b="0" i="0" u="none" strike="noStrike" cap="none">
                  <a:solidFill>
                    <a:srgbClr val="000000"/>
                  </a:solidFill>
                  <a:latin typeface="Century Gothic"/>
                  <a:ea typeface="Century Gothic"/>
                  <a:cs typeface="Century Gothic"/>
                  <a:sym typeface="Century Gothic"/>
                </a:endParaRPr>
              </a:p>
            </p:txBody>
          </p:sp>
        </p:grpSp>
        <p:grpSp>
          <p:nvGrpSpPr>
            <p:cNvPr id="142" name="Shape 209">
              <a:extLst>
                <a:ext uri="{FF2B5EF4-FFF2-40B4-BE49-F238E27FC236}">
                  <a16:creationId xmlns:a16="http://schemas.microsoft.com/office/drawing/2014/main" id="{B99BC0A4-7AB9-448B-A918-293114D31718}"/>
                </a:ext>
              </a:extLst>
            </p:cNvPr>
            <p:cNvGrpSpPr/>
            <p:nvPr/>
          </p:nvGrpSpPr>
          <p:grpSpPr>
            <a:xfrm>
              <a:off x="3783618" y="17046341"/>
              <a:ext cx="1483072" cy="893404"/>
              <a:chOff x="3136100" y="5737100"/>
              <a:chExt cx="1411500" cy="893404"/>
            </a:xfrm>
          </p:grpSpPr>
          <p:sp>
            <p:nvSpPr>
              <p:cNvPr id="166" name="Shape 210">
                <a:extLst>
                  <a:ext uri="{FF2B5EF4-FFF2-40B4-BE49-F238E27FC236}">
                    <a16:creationId xmlns:a16="http://schemas.microsoft.com/office/drawing/2014/main" id="{0D983941-41D6-4EF9-AA15-A8D25DFD38E4}"/>
                  </a:ext>
                </a:extLst>
              </p:cNvPr>
              <p:cNvSpPr txBox="1"/>
              <p:nvPr/>
            </p:nvSpPr>
            <p:spPr>
              <a:xfrm>
                <a:off x="3136100" y="5737100"/>
                <a:ext cx="1411500" cy="3033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3A3A3A"/>
                  </a:buClr>
                  <a:buSzPts val="375"/>
                  <a:buFont typeface="Century Gothic"/>
                  <a:buNone/>
                </a:pPr>
                <a:r>
                  <a:rPr lang="en-US" sz="1600" b="0" i="0" u="none" strike="noStrike" cap="none" dirty="0">
                    <a:solidFill>
                      <a:schemeClr val="tx1">
                        <a:lumMod val="75000"/>
                        <a:lumOff val="25000"/>
                      </a:schemeClr>
                    </a:solidFill>
                    <a:latin typeface="Century Gothic"/>
                    <a:ea typeface="Century Gothic"/>
                    <a:cs typeface="Century Gothic"/>
                    <a:sym typeface="Century Gothic"/>
                  </a:rPr>
                  <a:t>Sensor Input</a:t>
                </a:r>
                <a:endParaRPr sz="1600" b="0" i="0" u="none" strike="noStrike" cap="none" dirty="0">
                  <a:solidFill>
                    <a:schemeClr val="tx1">
                      <a:lumMod val="75000"/>
                      <a:lumOff val="25000"/>
                    </a:schemeClr>
                  </a:solidFill>
                  <a:latin typeface="Century Gothic"/>
                  <a:ea typeface="Century Gothic"/>
                  <a:cs typeface="Century Gothic"/>
                  <a:sym typeface="Century Gothic"/>
                </a:endParaRPr>
              </a:p>
            </p:txBody>
          </p:sp>
          <p:sp>
            <p:nvSpPr>
              <p:cNvPr id="167" name="Shape 204">
                <a:extLst>
                  <a:ext uri="{FF2B5EF4-FFF2-40B4-BE49-F238E27FC236}">
                    <a16:creationId xmlns:a16="http://schemas.microsoft.com/office/drawing/2014/main" id="{2EF82F3E-6829-4F07-87AC-499DBB865097}"/>
                  </a:ext>
                </a:extLst>
              </p:cNvPr>
              <p:cNvSpPr/>
              <p:nvPr/>
            </p:nvSpPr>
            <p:spPr>
              <a:xfrm>
                <a:off x="3481100" y="6053604"/>
                <a:ext cx="721500" cy="576900"/>
              </a:xfrm>
              <a:prstGeom prst="hexagon">
                <a:avLst>
                  <a:gd name="adj" fmla="val 25000"/>
                  <a:gd name="vf" fmla="val 115470"/>
                </a:avLst>
              </a:prstGeom>
              <a:solidFill>
                <a:srgbClr val="1155CC"/>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300"/>
                  <a:buFont typeface="Century Gothic"/>
                  <a:buNone/>
                </a:pPr>
                <a:r>
                  <a:rPr lang="en-US" sz="2000" b="1" i="0" u="none" strike="noStrike" cap="none" dirty="0">
                    <a:solidFill>
                      <a:schemeClr val="lt1"/>
                    </a:solidFill>
                    <a:latin typeface="Century Gothic"/>
                    <a:ea typeface="Century Gothic"/>
                    <a:cs typeface="Century Gothic"/>
                    <a:sym typeface="Century Gothic"/>
                  </a:rPr>
                  <a:t>1</a:t>
                </a:r>
                <a:endParaRPr sz="2000" b="0" i="0" u="none" strike="noStrike" cap="none" dirty="0">
                  <a:solidFill>
                    <a:schemeClr val="lt1"/>
                  </a:solidFill>
                  <a:latin typeface="Century Gothic"/>
                  <a:ea typeface="Century Gothic"/>
                  <a:cs typeface="Century Gothic"/>
                  <a:sym typeface="Century Gothic"/>
                </a:endParaRPr>
              </a:p>
            </p:txBody>
          </p:sp>
        </p:grpSp>
        <p:grpSp>
          <p:nvGrpSpPr>
            <p:cNvPr id="143" name="Shape 211">
              <a:extLst>
                <a:ext uri="{FF2B5EF4-FFF2-40B4-BE49-F238E27FC236}">
                  <a16:creationId xmlns:a16="http://schemas.microsoft.com/office/drawing/2014/main" id="{BEB8F3FC-1F6C-4BCE-8A0A-F5718A20C627}"/>
                </a:ext>
              </a:extLst>
            </p:cNvPr>
            <p:cNvGrpSpPr/>
            <p:nvPr/>
          </p:nvGrpSpPr>
          <p:grpSpPr>
            <a:xfrm>
              <a:off x="7224691" y="17046348"/>
              <a:ext cx="1197175" cy="877943"/>
              <a:chOff x="6411109" y="5737107"/>
              <a:chExt cx="1139400" cy="877943"/>
            </a:xfrm>
          </p:grpSpPr>
          <p:sp>
            <p:nvSpPr>
              <p:cNvPr id="164" name="Shape 212">
                <a:extLst>
                  <a:ext uri="{FF2B5EF4-FFF2-40B4-BE49-F238E27FC236}">
                    <a16:creationId xmlns:a16="http://schemas.microsoft.com/office/drawing/2014/main" id="{6F92745B-591E-4829-B2C6-FD4763E4C730}"/>
                  </a:ext>
                </a:extLst>
              </p:cNvPr>
              <p:cNvSpPr txBox="1"/>
              <p:nvPr/>
            </p:nvSpPr>
            <p:spPr>
              <a:xfrm>
                <a:off x="6411109" y="5737107"/>
                <a:ext cx="1139400" cy="3033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3A3A3A"/>
                  </a:buClr>
                  <a:buSzPts val="375"/>
                  <a:buFont typeface="Century Gothic"/>
                  <a:buNone/>
                </a:pPr>
                <a:r>
                  <a:rPr lang="en-US" sz="1600" b="0" i="0" u="none" strike="noStrike" cap="none" dirty="0">
                    <a:solidFill>
                      <a:schemeClr val="tx1">
                        <a:lumMod val="75000"/>
                        <a:lumOff val="25000"/>
                      </a:schemeClr>
                    </a:solidFill>
                    <a:latin typeface="Century Gothic"/>
                    <a:ea typeface="Century Gothic"/>
                    <a:cs typeface="Century Gothic"/>
                    <a:sym typeface="Century Gothic"/>
                  </a:rPr>
                  <a:t>Software</a:t>
                </a:r>
                <a:endParaRPr sz="1600" b="0" i="0" u="none" strike="noStrike" cap="none" dirty="0">
                  <a:solidFill>
                    <a:schemeClr val="tx1">
                      <a:lumMod val="75000"/>
                      <a:lumOff val="25000"/>
                    </a:schemeClr>
                  </a:solidFill>
                  <a:latin typeface="Century Gothic"/>
                  <a:ea typeface="Century Gothic"/>
                  <a:cs typeface="Century Gothic"/>
                  <a:sym typeface="Century Gothic"/>
                </a:endParaRPr>
              </a:p>
            </p:txBody>
          </p:sp>
          <p:sp>
            <p:nvSpPr>
              <p:cNvPr id="165" name="Shape 213">
                <a:extLst>
                  <a:ext uri="{FF2B5EF4-FFF2-40B4-BE49-F238E27FC236}">
                    <a16:creationId xmlns:a16="http://schemas.microsoft.com/office/drawing/2014/main" id="{F95A6BF3-1545-4A70-981F-F67004D110AC}"/>
                  </a:ext>
                </a:extLst>
              </p:cNvPr>
              <p:cNvSpPr/>
              <p:nvPr/>
            </p:nvSpPr>
            <p:spPr>
              <a:xfrm>
                <a:off x="6620059" y="6038150"/>
                <a:ext cx="721500" cy="576900"/>
              </a:xfrm>
              <a:prstGeom prst="hexagon">
                <a:avLst>
                  <a:gd name="adj" fmla="val 25000"/>
                  <a:gd name="vf" fmla="val 115470"/>
                </a:avLst>
              </a:prstGeom>
              <a:solidFill>
                <a:srgbClr val="A64D79"/>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300"/>
                  <a:buFont typeface="Century Gothic"/>
                  <a:buNone/>
                </a:pPr>
                <a:r>
                  <a:rPr lang="en-US" sz="2000" b="1" i="0" u="none" strike="noStrike" cap="none" dirty="0">
                    <a:solidFill>
                      <a:srgbClr val="FFFFFF"/>
                    </a:solidFill>
                    <a:latin typeface="Century Gothic"/>
                    <a:ea typeface="Century Gothic"/>
                    <a:cs typeface="Century Gothic"/>
                    <a:sym typeface="Century Gothic"/>
                  </a:rPr>
                  <a:t>3</a:t>
                </a:r>
                <a:endParaRPr sz="2000" b="0" i="0" u="none" strike="noStrike" cap="none" dirty="0">
                  <a:solidFill>
                    <a:srgbClr val="000000"/>
                  </a:solidFill>
                  <a:latin typeface="Century Gothic"/>
                  <a:ea typeface="Century Gothic"/>
                  <a:cs typeface="Century Gothic"/>
                  <a:sym typeface="Century Gothic"/>
                </a:endParaRPr>
              </a:p>
            </p:txBody>
          </p:sp>
        </p:grpSp>
        <p:grpSp>
          <p:nvGrpSpPr>
            <p:cNvPr id="144" name="Shape 214">
              <a:extLst>
                <a:ext uri="{FF2B5EF4-FFF2-40B4-BE49-F238E27FC236}">
                  <a16:creationId xmlns:a16="http://schemas.microsoft.com/office/drawing/2014/main" id="{FA213A50-C252-4757-BED0-45FE08CA3EE1}"/>
                </a:ext>
              </a:extLst>
            </p:cNvPr>
            <p:cNvGrpSpPr/>
            <p:nvPr/>
          </p:nvGrpSpPr>
          <p:grpSpPr>
            <a:xfrm>
              <a:off x="8948591" y="17046348"/>
              <a:ext cx="1155252" cy="877949"/>
              <a:chOff x="8280414" y="5737107"/>
              <a:chExt cx="1099500" cy="877949"/>
            </a:xfrm>
          </p:grpSpPr>
          <p:sp>
            <p:nvSpPr>
              <p:cNvPr id="162" name="Shape 215">
                <a:extLst>
                  <a:ext uri="{FF2B5EF4-FFF2-40B4-BE49-F238E27FC236}">
                    <a16:creationId xmlns:a16="http://schemas.microsoft.com/office/drawing/2014/main" id="{59F330C8-5DF6-4A68-A28D-4CBE3A750027}"/>
                  </a:ext>
                </a:extLst>
              </p:cNvPr>
              <p:cNvSpPr txBox="1"/>
              <p:nvPr/>
            </p:nvSpPr>
            <p:spPr>
              <a:xfrm>
                <a:off x="8280414" y="5737107"/>
                <a:ext cx="1099500" cy="303300"/>
              </a:xfrm>
              <a:prstGeom prst="rect">
                <a:avLst/>
              </a:prstGeom>
              <a:noFill/>
              <a:ln>
                <a:noFill/>
              </a:ln>
            </p:spPr>
            <p:txBody>
              <a:bodyPr spcFirstLastPara="1" wrap="square" lIns="68575" tIns="34275" rIns="68575" bIns="3427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3A3A3A"/>
                  </a:buClr>
                  <a:buSzPts val="375"/>
                  <a:buFont typeface="Century Gothic"/>
                  <a:buNone/>
                </a:pPr>
                <a:r>
                  <a:rPr lang="en-US" sz="1600" b="0" i="0" u="none" strike="noStrike" cap="none" dirty="0">
                    <a:solidFill>
                      <a:schemeClr val="tx1">
                        <a:lumMod val="75000"/>
                        <a:lumOff val="25000"/>
                      </a:schemeClr>
                    </a:solidFill>
                    <a:latin typeface="Century Gothic"/>
                    <a:ea typeface="Century Gothic"/>
                    <a:cs typeface="Century Gothic"/>
                    <a:sym typeface="Century Gothic"/>
                  </a:rPr>
                  <a:t>Output</a:t>
                </a:r>
                <a:endParaRPr sz="1600" b="0" i="0" u="none" strike="noStrike" cap="none" dirty="0">
                  <a:solidFill>
                    <a:schemeClr val="tx1">
                      <a:lumMod val="75000"/>
                      <a:lumOff val="25000"/>
                    </a:schemeClr>
                  </a:solidFill>
                  <a:latin typeface="Century Gothic"/>
                  <a:ea typeface="Century Gothic"/>
                  <a:cs typeface="Century Gothic"/>
                  <a:sym typeface="Century Gothic"/>
                </a:endParaRPr>
              </a:p>
            </p:txBody>
          </p:sp>
          <p:sp>
            <p:nvSpPr>
              <p:cNvPr id="163" name="Shape 205">
                <a:extLst>
                  <a:ext uri="{FF2B5EF4-FFF2-40B4-BE49-F238E27FC236}">
                    <a16:creationId xmlns:a16="http://schemas.microsoft.com/office/drawing/2014/main" id="{08315FC3-2356-4E4A-869C-4554646131C2}"/>
                  </a:ext>
                </a:extLst>
              </p:cNvPr>
              <p:cNvSpPr/>
              <p:nvPr/>
            </p:nvSpPr>
            <p:spPr>
              <a:xfrm>
                <a:off x="8469414" y="6038156"/>
                <a:ext cx="721500" cy="576900"/>
              </a:xfrm>
              <a:prstGeom prst="hexagon">
                <a:avLst>
                  <a:gd name="adj" fmla="val 25000"/>
                  <a:gd name="vf" fmla="val 115470"/>
                </a:avLst>
              </a:prstGeom>
              <a:solidFill>
                <a:srgbClr val="F1C232"/>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300"/>
                  <a:buFont typeface="Century Gothic"/>
                  <a:buNone/>
                </a:pPr>
                <a:r>
                  <a:rPr lang="en-US" sz="2000" b="1" i="0" u="none" strike="noStrike" cap="none">
                    <a:solidFill>
                      <a:srgbClr val="FFFFFF"/>
                    </a:solidFill>
                    <a:latin typeface="Century Gothic"/>
                    <a:ea typeface="Century Gothic"/>
                    <a:cs typeface="Century Gothic"/>
                    <a:sym typeface="Century Gothic"/>
                  </a:rPr>
                  <a:t>4</a:t>
                </a:r>
                <a:endParaRPr sz="2000" b="0" i="0" u="none" strike="noStrike" cap="none">
                  <a:solidFill>
                    <a:srgbClr val="000000"/>
                  </a:solidFill>
                  <a:latin typeface="Century Gothic"/>
                  <a:ea typeface="Century Gothic"/>
                  <a:cs typeface="Century Gothic"/>
                  <a:sym typeface="Century Gothic"/>
                </a:endParaRPr>
              </a:p>
            </p:txBody>
          </p:sp>
        </p:grpSp>
      </p:grpSp>
      <p:sp>
        <p:nvSpPr>
          <p:cNvPr id="145" name="Shape 216">
            <a:extLst>
              <a:ext uri="{FF2B5EF4-FFF2-40B4-BE49-F238E27FC236}">
                <a16:creationId xmlns:a16="http://schemas.microsoft.com/office/drawing/2014/main" id="{ED558BB4-5752-4F21-9B15-EE599107AB9B}"/>
              </a:ext>
            </a:extLst>
          </p:cNvPr>
          <p:cNvSpPr/>
          <p:nvPr/>
        </p:nvSpPr>
        <p:spPr>
          <a:xfrm rot="7963431">
            <a:off x="10205758" y="13463479"/>
            <a:ext cx="806526" cy="2122020"/>
          </a:xfrm>
          <a:prstGeom prst="triangle">
            <a:avLst>
              <a:gd name="adj" fmla="val 51408"/>
            </a:avLst>
          </a:prstGeom>
          <a:solidFill>
            <a:srgbClr val="C27BA0"/>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entury Gothic"/>
              <a:ea typeface="Century Gothic"/>
              <a:cs typeface="Century Gothic"/>
              <a:sym typeface="Century Gothic"/>
            </a:endParaRPr>
          </a:p>
        </p:txBody>
      </p:sp>
      <p:sp>
        <p:nvSpPr>
          <p:cNvPr id="146" name="Shape 217">
            <a:extLst>
              <a:ext uri="{FF2B5EF4-FFF2-40B4-BE49-F238E27FC236}">
                <a16:creationId xmlns:a16="http://schemas.microsoft.com/office/drawing/2014/main" id="{582953EC-B830-4E38-B36A-6D5169188A10}"/>
              </a:ext>
            </a:extLst>
          </p:cNvPr>
          <p:cNvSpPr/>
          <p:nvPr/>
        </p:nvSpPr>
        <p:spPr>
          <a:xfrm rot="1495029">
            <a:off x="7446636" y="13721053"/>
            <a:ext cx="1039216" cy="1999877"/>
          </a:xfrm>
          <a:prstGeom prst="triangle">
            <a:avLst>
              <a:gd name="adj" fmla="val 78918"/>
            </a:avLst>
          </a:prstGeom>
          <a:solidFill>
            <a:srgbClr val="C27BA0"/>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entury Gothic"/>
              <a:ea typeface="Century Gothic"/>
              <a:cs typeface="Century Gothic"/>
              <a:sym typeface="Century Gothic"/>
            </a:endParaRPr>
          </a:p>
        </p:txBody>
      </p:sp>
      <p:sp>
        <p:nvSpPr>
          <p:cNvPr id="147" name="Shape 218">
            <a:extLst>
              <a:ext uri="{FF2B5EF4-FFF2-40B4-BE49-F238E27FC236}">
                <a16:creationId xmlns:a16="http://schemas.microsoft.com/office/drawing/2014/main" id="{39325449-964A-4BB9-9317-18429027C336}"/>
              </a:ext>
            </a:extLst>
          </p:cNvPr>
          <p:cNvSpPr/>
          <p:nvPr/>
        </p:nvSpPr>
        <p:spPr>
          <a:xfrm rot="5057013">
            <a:off x="7389389" y="12502421"/>
            <a:ext cx="876459" cy="2678801"/>
          </a:xfrm>
          <a:prstGeom prst="triangle">
            <a:avLst>
              <a:gd name="adj" fmla="val 50000"/>
            </a:avLst>
          </a:prstGeom>
          <a:solidFill>
            <a:srgbClr val="3C78D8"/>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entury Gothic"/>
              <a:ea typeface="Century Gothic"/>
              <a:cs typeface="Century Gothic"/>
              <a:sym typeface="Century Gothic"/>
            </a:endParaRPr>
          </a:p>
        </p:txBody>
      </p:sp>
      <p:sp>
        <p:nvSpPr>
          <p:cNvPr id="148" name="Shape 219">
            <a:extLst>
              <a:ext uri="{FF2B5EF4-FFF2-40B4-BE49-F238E27FC236}">
                <a16:creationId xmlns:a16="http://schemas.microsoft.com/office/drawing/2014/main" id="{10C25678-C7A6-4FA9-9A28-7A006E80E680}"/>
              </a:ext>
            </a:extLst>
          </p:cNvPr>
          <p:cNvSpPr/>
          <p:nvPr/>
        </p:nvSpPr>
        <p:spPr>
          <a:xfrm rot="5400000">
            <a:off x="5924213" y="15086476"/>
            <a:ext cx="495736" cy="1688230"/>
          </a:xfrm>
          <a:prstGeom prst="triangle">
            <a:avLst>
              <a:gd name="adj" fmla="val 50000"/>
            </a:avLst>
          </a:prstGeom>
          <a:solidFill>
            <a:srgbClr val="9FC5E8"/>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Century Gothic"/>
              <a:ea typeface="Century Gothic"/>
              <a:cs typeface="Century Gothic"/>
              <a:sym typeface="Century Gothic"/>
            </a:endParaRPr>
          </a:p>
        </p:txBody>
      </p:sp>
      <p:sp>
        <p:nvSpPr>
          <p:cNvPr id="149" name="Shape 220">
            <a:extLst>
              <a:ext uri="{FF2B5EF4-FFF2-40B4-BE49-F238E27FC236}">
                <a16:creationId xmlns:a16="http://schemas.microsoft.com/office/drawing/2014/main" id="{27810350-6C3B-4B67-B64C-4A0B55EBF1C7}"/>
              </a:ext>
            </a:extLst>
          </p:cNvPr>
          <p:cNvSpPr/>
          <p:nvPr/>
        </p:nvSpPr>
        <p:spPr>
          <a:xfrm>
            <a:off x="10474114" y="14266539"/>
            <a:ext cx="2521695" cy="1969200"/>
          </a:xfrm>
          <a:prstGeom prst="hexagon">
            <a:avLst>
              <a:gd name="adj" fmla="val 25000"/>
              <a:gd name="vf" fmla="val 115470"/>
            </a:avLst>
          </a:prstGeom>
          <a:solidFill>
            <a:srgbClr val="F1C232"/>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400"/>
              <a:buFont typeface="Century Gothic"/>
              <a:buNone/>
            </a:pPr>
            <a:r>
              <a:rPr lang="en-US" sz="2000" b="1" dirty="0">
                <a:solidFill>
                  <a:srgbClr val="FFFFFF"/>
                </a:solidFill>
                <a:latin typeface="Century Gothic"/>
                <a:ea typeface="Century Gothic"/>
                <a:cs typeface="Century Gothic"/>
                <a:sym typeface="Century Gothic"/>
              </a:rPr>
              <a:t>Change Detection GUI</a:t>
            </a:r>
            <a:endParaRPr sz="2000" b="1" i="0" u="none" strike="noStrike" cap="none" dirty="0">
              <a:solidFill>
                <a:srgbClr val="FFFFFF"/>
              </a:solidFill>
              <a:latin typeface="Century Gothic"/>
              <a:ea typeface="Century Gothic"/>
              <a:cs typeface="Century Gothic"/>
              <a:sym typeface="Century Gothic"/>
            </a:endParaRPr>
          </a:p>
        </p:txBody>
      </p:sp>
      <p:sp>
        <p:nvSpPr>
          <p:cNvPr id="151" name="Shape 222">
            <a:extLst>
              <a:ext uri="{FF2B5EF4-FFF2-40B4-BE49-F238E27FC236}">
                <a16:creationId xmlns:a16="http://schemas.microsoft.com/office/drawing/2014/main" id="{4694CD98-5A6E-432D-A3AA-5BB852076825}"/>
              </a:ext>
            </a:extLst>
          </p:cNvPr>
          <p:cNvSpPr/>
          <p:nvPr/>
        </p:nvSpPr>
        <p:spPr>
          <a:xfrm>
            <a:off x="8055896" y="12677041"/>
            <a:ext cx="2234222" cy="1728000"/>
          </a:xfrm>
          <a:prstGeom prst="hexagon">
            <a:avLst>
              <a:gd name="adj" fmla="val 25000"/>
              <a:gd name="vf" fmla="val 115470"/>
            </a:avLst>
          </a:prstGeom>
          <a:solidFill>
            <a:srgbClr val="A64D79"/>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400"/>
              <a:buFont typeface="Century Gothic"/>
              <a:buNone/>
            </a:pPr>
            <a:r>
              <a:rPr lang="en-US" sz="2000" b="1" dirty="0">
                <a:solidFill>
                  <a:srgbClr val="FFFFFF"/>
                </a:solidFill>
                <a:latin typeface="Century Gothic"/>
                <a:ea typeface="Century Gothic"/>
                <a:cs typeface="Century Gothic"/>
                <a:sym typeface="Century Gothic"/>
              </a:rPr>
              <a:t>Google Earth Engine</a:t>
            </a:r>
            <a:endParaRPr sz="2000" b="1" i="0" u="none" strike="noStrike" cap="none" dirty="0">
              <a:solidFill>
                <a:srgbClr val="FFFFFF"/>
              </a:solidFill>
              <a:latin typeface="Century Gothic"/>
              <a:ea typeface="Century Gothic"/>
              <a:cs typeface="Century Gothic"/>
              <a:sym typeface="Century Gothic"/>
            </a:endParaRPr>
          </a:p>
        </p:txBody>
      </p:sp>
      <p:sp>
        <p:nvSpPr>
          <p:cNvPr id="154" name="Shape 225">
            <a:extLst>
              <a:ext uri="{FF2B5EF4-FFF2-40B4-BE49-F238E27FC236}">
                <a16:creationId xmlns:a16="http://schemas.microsoft.com/office/drawing/2014/main" id="{09B7415D-6536-4DAF-A385-349683B4BA02}"/>
              </a:ext>
            </a:extLst>
          </p:cNvPr>
          <p:cNvSpPr/>
          <p:nvPr/>
        </p:nvSpPr>
        <p:spPr>
          <a:xfrm>
            <a:off x="4001053" y="13787553"/>
            <a:ext cx="369428" cy="351600"/>
          </a:xfrm>
          <a:prstGeom prst="ellipse">
            <a:avLst/>
          </a:prstGeom>
          <a:solidFill>
            <a:srgbClr val="1155C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endParaRPr sz="1400" b="0" i="0" u="none" strike="noStrike" cap="none" dirty="0">
              <a:solidFill>
                <a:srgbClr val="FFFFFF"/>
              </a:solidFill>
              <a:latin typeface="Century Gothic"/>
              <a:ea typeface="Century Gothic"/>
              <a:cs typeface="Century Gothic"/>
              <a:sym typeface="Century Gothic"/>
            </a:endParaRPr>
          </a:p>
        </p:txBody>
      </p:sp>
      <p:grpSp>
        <p:nvGrpSpPr>
          <p:cNvPr id="79" name="Group 78">
            <a:extLst>
              <a:ext uri="{FF2B5EF4-FFF2-40B4-BE49-F238E27FC236}">
                <a16:creationId xmlns:a16="http://schemas.microsoft.com/office/drawing/2014/main" id="{62B93C85-0AEE-4698-84D4-139909B97D83}"/>
              </a:ext>
            </a:extLst>
          </p:cNvPr>
          <p:cNvGrpSpPr/>
          <p:nvPr/>
        </p:nvGrpSpPr>
        <p:grpSpPr>
          <a:xfrm>
            <a:off x="1470856" y="12978753"/>
            <a:ext cx="5312962" cy="1969200"/>
            <a:chOff x="1470856" y="13054953"/>
            <a:chExt cx="5312962" cy="1969200"/>
          </a:xfrm>
        </p:grpSpPr>
        <p:sp>
          <p:nvSpPr>
            <p:cNvPr id="152" name="Shape 223">
              <a:extLst>
                <a:ext uri="{FF2B5EF4-FFF2-40B4-BE49-F238E27FC236}">
                  <a16:creationId xmlns:a16="http://schemas.microsoft.com/office/drawing/2014/main" id="{792F45BD-EF3F-4243-83A6-AA08F8779161}"/>
                </a:ext>
              </a:extLst>
            </p:cNvPr>
            <p:cNvSpPr/>
            <p:nvPr/>
          </p:nvSpPr>
          <p:spPr>
            <a:xfrm>
              <a:off x="1470856" y="13054953"/>
              <a:ext cx="2676149" cy="1969200"/>
            </a:xfrm>
            <a:prstGeom prst="hexagon">
              <a:avLst>
                <a:gd name="adj" fmla="val 25000"/>
                <a:gd name="vf" fmla="val 115470"/>
              </a:avLst>
            </a:prstGeom>
            <a:solidFill>
              <a:srgbClr val="1155CC"/>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375"/>
                <a:buFont typeface="Century Gothic"/>
                <a:buNone/>
              </a:pPr>
              <a:r>
                <a:rPr lang="en-US" sz="2000" b="1" i="0" u="none" strike="noStrike" cap="none" dirty="0">
                  <a:solidFill>
                    <a:schemeClr val="lt1"/>
                  </a:solidFill>
                  <a:latin typeface="Century Gothic"/>
                  <a:ea typeface="Century Gothic"/>
                  <a:cs typeface="Century Gothic"/>
                  <a:sym typeface="Century Gothic"/>
                </a:rPr>
                <a:t>NASA Earth Observations</a:t>
              </a:r>
              <a:endParaRPr sz="2000" b="1" i="0" u="none" strike="noStrike" cap="none" dirty="0">
                <a:solidFill>
                  <a:schemeClr val="lt1"/>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FFFFFF"/>
                </a:buClr>
                <a:buSzPts val="375"/>
                <a:buFont typeface="Century Gothic"/>
                <a:buNone/>
              </a:pPr>
              <a:r>
                <a:rPr lang="en-US" sz="2000" b="1" i="0" u="none" strike="noStrike" cap="none" dirty="0">
                  <a:solidFill>
                    <a:schemeClr val="lt1"/>
                  </a:solidFill>
                  <a:latin typeface="Century Gothic"/>
                  <a:ea typeface="Century Gothic"/>
                  <a:cs typeface="Century Gothic"/>
                  <a:sym typeface="Century Gothic"/>
                </a:rPr>
                <a:t>Landsat 5, 7, 8</a:t>
              </a:r>
              <a:endParaRPr sz="2000" b="1" i="0" u="none" strike="noStrike" cap="none" dirty="0">
                <a:solidFill>
                  <a:schemeClr val="lt1"/>
                </a:solidFill>
                <a:latin typeface="Century Gothic"/>
                <a:ea typeface="Century Gothic"/>
                <a:cs typeface="Century Gothic"/>
                <a:sym typeface="Century Gothic"/>
              </a:endParaRPr>
            </a:p>
            <a:p>
              <a:pPr marL="0" marR="0" lvl="0" indent="0" algn="ctr" rtl="0">
                <a:lnSpc>
                  <a:spcPct val="100000"/>
                </a:lnSpc>
                <a:spcBef>
                  <a:spcPts val="0"/>
                </a:spcBef>
                <a:spcAft>
                  <a:spcPts val="0"/>
                </a:spcAft>
                <a:buClr>
                  <a:srgbClr val="FFFFFF"/>
                </a:buClr>
                <a:buSzPts val="375"/>
                <a:buFont typeface="Century Gothic"/>
                <a:buNone/>
              </a:pPr>
              <a:r>
                <a:rPr lang="en-US" sz="2000" b="1" dirty="0">
                  <a:solidFill>
                    <a:schemeClr val="lt1"/>
                  </a:solidFill>
                  <a:latin typeface="Century Gothic"/>
                  <a:ea typeface="Century Gothic"/>
                  <a:cs typeface="Century Gothic"/>
                  <a:sym typeface="Century Gothic"/>
                </a:rPr>
                <a:t>SRTM</a:t>
              </a:r>
              <a:endParaRPr sz="2000" b="1" dirty="0">
                <a:solidFill>
                  <a:schemeClr val="lt1"/>
                </a:solidFill>
                <a:latin typeface="Century Gothic"/>
                <a:ea typeface="Century Gothic"/>
                <a:cs typeface="Century Gothic"/>
                <a:sym typeface="Century Gothic"/>
              </a:endParaRPr>
            </a:p>
          </p:txBody>
        </p:sp>
        <p:sp>
          <p:nvSpPr>
            <p:cNvPr id="155" name="Shape 226">
              <a:extLst>
                <a:ext uri="{FF2B5EF4-FFF2-40B4-BE49-F238E27FC236}">
                  <a16:creationId xmlns:a16="http://schemas.microsoft.com/office/drawing/2014/main" id="{F869ADAF-1632-45F7-8F15-9B615766F46A}"/>
                </a:ext>
              </a:extLst>
            </p:cNvPr>
            <p:cNvSpPr/>
            <p:nvPr/>
          </p:nvSpPr>
          <p:spPr>
            <a:xfrm>
              <a:off x="4183950" y="13054953"/>
              <a:ext cx="2599868" cy="1969200"/>
            </a:xfrm>
            <a:prstGeom prst="hexagon">
              <a:avLst>
                <a:gd name="adj" fmla="val 25000"/>
                <a:gd name="vf" fmla="val 115470"/>
              </a:avLst>
            </a:prstGeom>
            <a:solidFill>
              <a:srgbClr val="1155CC"/>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375"/>
                <a:buFont typeface="Century Gothic"/>
                <a:buNone/>
              </a:pPr>
              <a:r>
                <a:rPr lang="en-US" sz="2000" b="1" dirty="0">
                  <a:solidFill>
                    <a:schemeClr val="lt1"/>
                  </a:solidFill>
                  <a:latin typeface="Century Gothic"/>
                  <a:ea typeface="Century Gothic"/>
                  <a:cs typeface="Century Gothic"/>
                  <a:sym typeface="Century Gothic"/>
                </a:rPr>
                <a:t>Sentinel-2</a:t>
              </a:r>
              <a:endParaRPr sz="2000" b="1" dirty="0">
                <a:solidFill>
                  <a:schemeClr val="lt1"/>
                </a:solidFill>
                <a:latin typeface="Century Gothic"/>
                <a:ea typeface="Century Gothic"/>
                <a:cs typeface="Century Gothic"/>
                <a:sym typeface="Century Gothic"/>
              </a:endParaRPr>
            </a:p>
          </p:txBody>
        </p:sp>
      </p:grpSp>
      <p:grpSp>
        <p:nvGrpSpPr>
          <p:cNvPr id="255" name="Group 254">
            <a:extLst>
              <a:ext uri="{FF2B5EF4-FFF2-40B4-BE49-F238E27FC236}">
                <a16:creationId xmlns:a16="http://schemas.microsoft.com/office/drawing/2014/main" id="{F66D0FF9-3063-4915-A393-225B4B152D45}"/>
              </a:ext>
            </a:extLst>
          </p:cNvPr>
          <p:cNvGrpSpPr/>
          <p:nvPr/>
        </p:nvGrpSpPr>
        <p:grpSpPr>
          <a:xfrm>
            <a:off x="2535897" y="15244791"/>
            <a:ext cx="3182881" cy="1371600"/>
            <a:chOff x="2561064" y="15244791"/>
            <a:chExt cx="3182881" cy="1371600"/>
          </a:xfrm>
        </p:grpSpPr>
        <p:sp>
          <p:nvSpPr>
            <p:cNvPr id="156" name="Shape 227">
              <a:extLst>
                <a:ext uri="{FF2B5EF4-FFF2-40B4-BE49-F238E27FC236}">
                  <a16:creationId xmlns:a16="http://schemas.microsoft.com/office/drawing/2014/main" id="{0B3F3A7B-49CF-4F0F-B2B8-F400D54EE192}"/>
                </a:ext>
              </a:extLst>
            </p:cNvPr>
            <p:cNvSpPr/>
            <p:nvPr/>
          </p:nvSpPr>
          <p:spPr>
            <a:xfrm>
              <a:off x="2561064" y="15244791"/>
              <a:ext cx="1554480" cy="1371600"/>
            </a:xfrm>
            <a:prstGeom prst="hexagon">
              <a:avLst>
                <a:gd name="adj" fmla="val 25000"/>
                <a:gd name="vf" fmla="val 115470"/>
              </a:avLst>
            </a:prstGeom>
            <a:solidFill>
              <a:srgbClr val="3D85C6"/>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375"/>
                <a:buFont typeface="Century Gothic"/>
                <a:buNone/>
              </a:pPr>
              <a:r>
                <a:rPr lang="en-US" sz="2000" b="1" dirty="0">
                  <a:solidFill>
                    <a:srgbClr val="FFFFFF"/>
                  </a:solidFill>
                  <a:latin typeface="Century Gothic"/>
                  <a:ea typeface="Century Gothic"/>
                  <a:cs typeface="Century Gothic"/>
                  <a:sym typeface="Century Gothic"/>
                </a:rPr>
                <a:t>V-BET</a:t>
              </a:r>
              <a:endParaRPr sz="2000" b="1" i="0" u="none" strike="noStrike" cap="none" dirty="0">
                <a:solidFill>
                  <a:srgbClr val="FFFFFF"/>
                </a:solidFill>
                <a:latin typeface="Century Gothic"/>
                <a:ea typeface="Century Gothic"/>
                <a:cs typeface="Century Gothic"/>
                <a:sym typeface="Century Gothic"/>
              </a:endParaRPr>
            </a:p>
          </p:txBody>
        </p:sp>
        <p:sp>
          <p:nvSpPr>
            <p:cNvPr id="157" name="Shape 228">
              <a:extLst>
                <a:ext uri="{FF2B5EF4-FFF2-40B4-BE49-F238E27FC236}">
                  <a16:creationId xmlns:a16="http://schemas.microsoft.com/office/drawing/2014/main" id="{1F8B6812-87C1-430F-823D-4225BC61E9E7}"/>
                </a:ext>
              </a:extLst>
            </p:cNvPr>
            <p:cNvSpPr/>
            <p:nvPr/>
          </p:nvSpPr>
          <p:spPr>
            <a:xfrm>
              <a:off x="4189465" y="15244791"/>
              <a:ext cx="1554480" cy="1371600"/>
            </a:xfrm>
            <a:prstGeom prst="hexagon">
              <a:avLst>
                <a:gd name="adj" fmla="val 25000"/>
                <a:gd name="vf" fmla="val 115470"/>
              </a:avLst>
            </a:prstGeom>
            <a:solidFill>
              <a:srgbClr val="3D85C6"/>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375"/>
                <a:buFont typeface="Century Gothic"/>
                <a:buNone/>
              </a:pPr>
              <a:r>
                <a:rPr lang="en-US" sz="2000" b="1" dirty="0">
                  <a:solidFill>
                    <a:srgbClr val="FFFFFF"/>
                  </a:solidFill>
                  <a:latin typeface="Century Gothic"/>
                  <a:ea typeface="Century Gothic"/>
                  <a:cs typeface="Century Gothic"/>
                  <a:sym typeface="Century Gothic"/>
                </a:rPr>
                <a:t>NHD</a:t>
              </a:r>
              <a:endParaRPr sz="2000" b="1" i="0" u="none" strike="noStrike" cap="none" dirty="0">
                <a:solidFill>
                  <a:srgbClr val="FFFFFF"/>
                </a:solidFill>
                <a:latin typeface="Century Gothic"/>
                <a:ea typeface="Century Gothic"/>
                <a:cs typeface="Century Gothic"/>
                <a:sym typeface="Century Gothic"/>
              </a:endParaRPr>
            </a:p>
          </p:txBody>
        </p:sp>
        <p:sp>
          <p:nvSpPr>
            <p:cNvPr id="160" name="Shape 231">
              <a:extLst>
                <a:ext uri="{FF2B5EF4-FFF2-40B4-BE49-F238E27FC236}">
                  <a16:creationId xmlns:a16="http://schemas.microsoft.com/office/drawing/2014/main" id="{A509BE8F-A143-47F5-A261-51452B00D59D}"/>
                </a:ext>
              </a:extLst>
            </p:cNvPr>
            <p:cNvSpPr/>
            <p:nvPr/>
          </p:nvSpPr>
          <p:spPr>
            <a:xfrm>
              <a:off x="3967791" y="15754791"/>
              <a:ext cx="369428" cy="351600"/>
            </a:xfrm>
            <a:prstGeom prst="ellipse">
              <a:avLst/>
            </a:prstGeom>
            <a:solidFill>
              <a:srgbClr val="3D85C6"/>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None/>
              </a:pPr>
              <a:endParaRPr sz="1400" b="0" i="0" u="none" strike="noStrike" cap="none">
                <a:solidFill>
                  <a:srgbClr val="FFFFFF"/>
                </a:solidFill>
                <a:latin typeface="Century Gothic"/>
                <a:ea typeface="Century Gothic"/>
                <a:cs typeface="Century Gothic"/>
                <a:sym typeface="Century Gothic"/>
              </a:endParaRPr>
            </a:p>
          </p:txBody>
        </p:sp>
      </p:grpSp>
      <p:sp>
        <p:nvSpPr>
          <p:cNvPr id="161" name="Shape 232">
            <a:extLst>
              <a:ext uri="{FF2B5EF4-FFF2-40B4-BE49-F238E27FC236}">
                <a16:creationId xmlns:a16="http://schemas.microsoft.com/office/drawing/2014/main" id="{334C2104-D2BC-4A1F-82B5-5A878D363157}"/>
              </a:ext>
            </a:extLst>
          </p:cNvPr>
          <p:cNvSpPr/>
          <p:nvPr/>
        </p:nvSpPr>
        <p:spPr>
          <a:xfrm>
            <a:off x="6047444" y="15066591"/>
            <a:ext cx="2234222" cy="1728000"/>
          </a:xfrm>
          <a:prstGeom prst="hexagon">
            <a:avLst>
              <a:gd name="adj" fmla="val 25000"/>
              <a:gd name="vf" fmla="val 115470"/>
            </a:avLst>
          </a:prstGeom>
          <a:solidFill>
            <a:srgbClr val="A64D79"/>
          </a:solidFill>
          <a:ln>
            <a:noFill/>
          </a:ln>
        </p:spPr>
        <p:txBody>
          <a:bodyPr spcFirstLastPara="1" wrap="square" lIns="68575" tIns="34275" rIns="68575" bIns="3427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FFFFFF"/>
              </a:buClr>
              <a:buSzPts val="400"/>
              <a:buFont typeface="Century Gothic"/>
              <a:buNone/>
            </a:pPr>
            <a:r>
              <a:rPr lang="en-US" sz="2000" b="1" dirty="0">
                <a:solidFill>
                  <a:srgbClr val="FFFFFF"/>
                </a:solidFill>
                <a:latin typeface="Century Gothic"/>
                <a:ea typeface="Century Gothic"/>
                <a:cs typeface="Century Gothic"/>
                <a:sym typeface="Century Gothic"/>
              </a:rPr>
              <a:t>ArcMap</a:t>
            </a:r>
            <a:endParaRPr sz="2000" b="1" i="0" u="none" strike="noStrike" cap="none" dirty="0">
              <a:solidFill>
                <a:srgbClr val="FFFFFF"/>
              </a:solidFill>
              <a:latin typeface="Century Gothic"/>
              <a:ea typeface="Century Gothic"/>
              <a:cs typeface="Century Gothic"/>
              <a:sym typeface="Century Gothic"/>
            </a:endParaRPr>
          </a:p>
        </p:txBody>
      </p:sp>
      <p:sp>
        <p:nvSpPr>
          <p:cNvPr id="46" name="TextBox 45"/>
          <p:cNvSpPr txBox="1"/>
          <p:nvPr/>
        </p:nvSpPr>
        <p:spPr>
          <a:xfrm>
            <a:off x="13813609" y="26959338"/>
            <a:ext cx="12550700"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Team Members</a:t>
            </a:r>
          </a:p>
        </p:txBody>
      </p:sp>
      <p:grpSp>
        <p:nvGrpSpPr>
          <p:cNvPr id="238" name="Group 237">
            <a:extLst>
              <a:ext uri="{FF2B5EF4-FFF2-40B4-BE49-F238E27FC236}">
                <a16:creationId xmlns:a16="http://schemas.microsoft.com/office/drawing/2014/main" id="{39980986-03B1-4B45-A845-4EA1B6B4F087}"/>
              </a:ext>
            </a:extLst>
          </p:cNvPr>
          <p:cNvGrpSpPr/>
          <p:nvPr/>
        </p:nvGrpSpPr>
        <p:grpSpPr>
          <a:xfrm>
            <a:off x="13914120" y="27858552"/>
            <a:ext cx="12450189" cy="2819872"/>
            <a:chOff x="13914120" y="27960150"/>
            <a:chExt cx="12450189" cy="2819872"/>
          </a:xfrm>
        </p:grpSpPr>
        <p:sp>
          <p:nvSpPr>
            <p:cNvPr id="48" name="Text Placeholder 16"/>
            <p:cNvSpPr txBox="1">
              <a:spLocks/>
            </p:cNvSpPr>
            <p:nvPr/>
          </p:nvSpPr>
          <p:spPr>
            <a:xfrm>
              <a:off x="13914120" y="29956263"/>
              <a:ext cx="2872251" cy="812801"/>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lnSpc>
                  <a:spcPct val="100000"/>
                </a:lnSpc>
                <a:spcBef>
                  <a:spcPts val="600"/>
                </a:spcBef>
              </a:pPr>
              <a:r>
                <a:rPr lang="en-US" sz="2400" dirty="0">
                  <a:solidFill>
                    <a:schemeClr val="tx1">
                      <a:lumMod val="75000"/>
                      <a:lumOff val="25000"/>
                    </a:schemeClr>
                  </a:solidFill>
                </a:rPr>
                <a:t>Margaret Mulhern</a:t>
              </a:r>
            </a:p>
            <a:p>
              <a:pPr algn="ctr">
                <a:lnSpc>
                  <a:spcPct val="100000"/>
                </a:lnSpc>
                <a:spcBef>
                  <a:spcPts val="600"/>
                </a:spcBef>
              </a:pPr>
              <a:r>
                <a:rPr lang="en-US" sz="2400" dirty="0">
                  <a:solidFill>
                    <a:schemeClr val="tx1">
                      <a:lumMod val="75000"/>
                      <a:lumOff val="25000"/>
                    </a:schemeClr>
                  </a:solidFill>
                </a:rPr>
                <a:t>Project Lead</a:t>
              </a:r>
            </a:p>
          </p:txBody>
        </p:sp>
        <p:grpSp>
          <p:nvGrpSpPr>
            <p:cNvPr id="28" name="Group 27">
              <a:extLst>
                <a:ext uri="{FF2B5EF4-FFF2-40B4-BE49-F238E27FC236}">
                  <a16:creationId xmlns:a16="http://schemas.microsoft.com/office/drawing/2014/main" id="{05AF0005-591F-412A-8BBF-5AC1B690CF5D}"/>
                </a:ext>
              </a:extLst>
            </p:cNvPr>
            <p:cNvGrpSpPr/>
            <p:nvPr/>
          </p:nvGrpSpPr>
          <p:grpSpPr>
            <a:xfrm>
              <a:off x="14321543" y="27960150"/>
              <a:ext cx="2057404" cy="2046184"/>
              <a:chOff x="14019468" y="30844775"/>
              <a:chExt cx="2057404" cy="2046184"/>
            </a:xfrm>
          </p:grpSpPr>
          <p:pic>
            <p:nvPicPr>
              <p:cNvPr id="90" name="Picture 8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4019468" y="30844775"/>
                <a:ext cx="2057404" cy="2046184"/>
              </a:xfrm>
              <a:prstGeom prst="rect">
                <a:avLst/>
              </a:prstGeom>
            </p:spPr>
          </p:pic>
          <p:pic>
            <p:nvPicPr>
              <p:cNvPr id="14" name="Picture 13" descr="A picture containing building, outdoor, tree, person&#10;&#10;Description generated with very high confidence">
                <a:extLst>
                  <a:ext uri="{FF2B5EF4-FFF2-40B4-BE49-F238E27FC236}">
                    <a16:creationId xmlns:a16="http://schemas.microsoft.com/office/drawing/2014/main" id="{C385EB0F-08F2-4C72-9541-F3913381C195}"/>
                  </a:ext>
                </a:extLst>
              </p:cNvPr>
              <p:cNvPicPr>
                <a:picLocks/>
              </p:cNvPicPr>
              <p:nvPr/>
            </p:nvPicPr>
            <p:blipFill rotWithShape="1">
              <a:blip r:embed="rId9" cstate="hqprint">
                <a:extLst>
                  <a:ext uri="{28A0092B-C50C-407E-A947-70E740481C1C}">
                    <a14:useLocalDpi xmlns:a14="http://schemas.microsoft.com/office/drawing/2010/main"/>
                  </a:ext>
                </a:extLst>
              </a:blip>
              <a:srcRect/>
              <a:stretch/>
            </p:blipFill>
            <p:spPr>
              <a:xfrm rot="5400000">
                <a:off x="14225210" y="31044907"/>
                <a:ext cx="1645920" cy="1645920"/>
              </a:xfrm>
              <a:prstGeom prst="ellipse">
                <a:avLst/>
              </a:prstGeom>
            </p:spPr>
          </p:pic>
        </p:grpSp>
        <p:sp>
          <p:nvSpPr>
            <p:cNvPr id="53" name="Text Placeholder 16"/>
            <p:cNvSpPr txBox="1">
              <a:spLocks/>
            </p:cNvSpPr>
            <p:nvPr/>
          </p:nvSpPr>
          <p:spPr>
            <a:xfrm>
              <a:off x="20370439" y="29960631"/>
              <a:ext cx="3002160" cy="812801"/>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lnSpc>
                  <a:spcPct val="100000"/>
                </a:lnSpc>
                <a:spcBef>
                  <a:spcPts val="600"/>
                </a:spcBef>
              </a:pPr>
              <a:r>
                <a:rPr lang="en-US" sz="2400" dirty="0">
                  <a:solidFill>
                    <a:schemeClr val="tx1">
                      <a:lumMod val="75000"/>
                      <a:lumOff val="25000"/>
                    </a:schemeClr>
                  </a:solidFill>
                </a:rPr>
                <a:t>Kristen Dennis</a:t>
              </a:r>
            </a:p>
          </p:txBody>
        </p:sp>
        <p:grpSp>
          <p:nvGrpSpPr>
            <p:cNvPr id="32" name="Group 31">
              <a:extLst>
                <a:ext uri="{FF2B5EF4-FFF2-40B4-BE49-F238E27FC236}">
                  <a16:creationId xmlns:a16="http://schemas.microsoft.com/office/drawing/2014/main" id="{2E9DDA4D-69F7-4A6D-9E35-8F400F16386A}"/>
                </a:ext>
              </a:extLst>
            </p:cNvPr>
            <p:cNvGrpSpPr/>
            <p:nvPr/>
          </p:nvGrpSpPr>
          <p:grpSpPr>
            <a:xfrm>
              <a:off x="20842817" y="27960150"/>
              <a:ext cx="2057404" cy="2046184"/>
              <a:chOff x="18974228" y="30731398"/>
              <a:chExt cx="2057404" cy="2046184"/>
            </a:xfrm>
          </p:grpSpPr>
          <p:pic>
            <p:nvPicPr>
              <p:cNvPr id="89" name="Picture 88"/>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974228" y="30731398"/>
                <a:ext cx="2057404" cy="2046184"/>
              </a:xfrm>
              <a:prstGeom prst="rect">
                <a:avLst/>
              </a:prstGeom>
            </p:spPr>
          </p:pic>
          <p:pic>
            <p:nvPicPr>
              <p:cNvPr id="25" name="Picture 24" descr="A person standing in front of a brick building&#10;&#10;Description generated with very high confidence">
                <a:extLst>
                  <a:ext uri="{FF2B5EF4-FFF2-40B4-BE49-F238E27FC236}">
                    <a16:creationId xmlns:a16="http://schemas.microsoft.com/office/drawing/2014/main" id="{FC1EEF95-98A5-486B-9967-C7D239C3040F}"/>
                  </a:ext>
                </a:extLst>
              </p:cNvPr>
              <p:cNvPicPr>
                <a:picLocks/>
              </p:cNvPicPr>
              <p:nvPr/>
            </p:nvPicPr>
            <p:blipFill rotWithShape="1">
              <a:blip r:embed="rId10" cstate="hqprint">
                <a:extLst>
                  <a:ext uri="{28A0092B-C50C-407E-A947-70E740481C1C}">
                    <a14:useLocalDpi xmlns:a14="http://schemas.microsoft.com/office/drawing/2010/main"/>
                  </a:ext>
                </a:extLst>
              </a:blip>
              <a:srcRect/>
              <a:stretch/>
            </p:blipFill>
            <p:spPr>
              <a:xfrm>
                <a:off x="19179970" y="30931530"/>
                <a:ext cx="1645920" cy="1645920"/>
              </a:xfrm>
              <a:prstGeom prst="ellipse">
                <a:avLst/>
              </a:prstGeom>
            </p:spPr>
          </p:pic>
        </p:grpSp>
        <p:sp>
          <p:nvSpPr>
            <p:cNvPr id="55" name="Text Placeholder 16"/>
            <p:cNvSpPr txBox="1">
              <a:spLocks/>
            </p:cNvSpPr>
            <p:nvPr/>
          </p:nvSpPr>
          <p:spPr>
            <a:xfrm>
              <a:off x="23690682" y="29967221"/>
              <a:ext cx="2673627" cy="812801"/>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lnSpc>
                  <a:spcPct val="100000"/>
                </a:lnSpc>
                <a:spcBef>
                  <a:spcPts val="600"/>
                </a:spcBef>
              </a:pPr>
              <a:r>
                <a:rPr lang="en-US" sz="2400" dirty="0">
                  <a:solidFill>
                    <a:schemeClr val="tx1">
                      <a:lumMod val="75000"/>
                      <a:lumOff val="25000"/>
                    </a:schemeClr>
                  </a:solidFill>
                </a:rPr>
                <a:t>Nathaniel Penrod</a:t>
              </a:r>
            </a:p>
          </p:txBody>
        </p:sp>
        <p:grpSp>
          <p:nvGrpSpPr>
            <p:cNvPr id="33" name="Group 32">
              <a:extLst>
                <a:ext uri="{FF2B5EF4-FFF2-40B4-BE49-F238E27FC236}">
                  <a16:creationId xmlns:a16="http://schemas.microsoft.com/office/drawing/2014/main" id="{0A401678-D47A-4875-82E3-B9D853460C54}"/>
                </a:ext>
              </a:extLst>
            </p:cNvPr>
            <p:cNvGrpSpPr/>
            <p:nvPr/>
          </p:nvGrpSpPr>
          <p:grpSpPr>
            <a:xfrm>
              <a:off x="23998793" y="27960150"/>
              <a:ext cx="2057404" cy="2046184"/>
              <a:chOff x="21381361" y="30718217"/>
              <a:chExt cx="2057404" cy="2046184"/>
            </a:xfrm>
          </p:grpSpPr>
          <p:pic>
            <p:nvPicPr>
              <p:cNvPr id="91" name="Picture 9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381361" y="30718217"/>
                <a:ext cx="2057404" cy="2046184"/>
              </a:xfrm>
              <a:prstGeom prst="rect">
                <a:avLst/>
              </a:prstGeom>
            </p:spPr>
          </p:pic>
          <p:pic>
            <p:nvPicPr>
              <p:cNvPr id="27" name="Picture 26" descr="A person standing in front of a building&#10;&#10;Description generated with very high confidence">
                <a:extLst>
                  <a:ext uri="{FF2B5EF4-FFF2-40B4-BE49-F238E27FC236}">
                    <a16:creationId xmlns:a16="http://schemas.microsoft.com/office/drawing/2014/main" id="{83CA18F1-561C-463A-8689-CBA7B626C319}"/>
                  </a:ext>
                </a:extLst>
              </p:cNvPr>
              <p:cNvPicPr>
                <a:picLocks/>
              </p:cNvPicPr>
              <p:nvPr/>
            </p:nvPicPr>
            <p:blipFill rotWithShape="1">
              <a:blip r:embed="rId11" cstate="hqprint">
                <a:extLst>
                  <a:ext uri="{28A0092B-C50C-407E-A947-70E740481C1C}">
                    <a14:useLocalDpi xmlns:a14="http://schemas.microsoft.com/office/drawing/2010/main"/>
                  </a:ext>
                </a:extLst>
              </a:blip>
              <a:srcRect/>
              <a:stretch/>
            </p:blipFill>
            <p:spPr>
              <a:xfrm>
                <a:off x="21587103" y="30918349"/>
                <a:ext cx="1645920" cy="1645920"/>
              </a:xfrm>
              <a:prstGeom prst="ellipse">
                <a:avLst/>
              </a:prstGeom>
            </p:spPr>
          </p:pic>
        </p:grpSp>
        <p:sp>
          <p:nvSpPr>
            <p:cNvPr id="51" name="Text Placeholder 16"/>
            <p:cNvSpPr txBox="1">
              <a:spLocks/>
            </p:cNvSpPr>
            <p:nvPr/>
          </p:nvSpPr>
          <p:spPr>
            <a:xfrm>
              <a:off x="17104455" y="29956262"/>
              <a:ext cx="2947900" cy="812801"/>
            </a:xfrm>
            <a:prstGeom prst="rect">
              <a:avLst/>
            </a:prstGeom>
          </p:spPr>
          <p:txBody>
            <a:bodyPr numCol="1" spcCol="640080"/>
            <a:lstStyle>
              <a:lvl1pPr marL="0" indent="0" algn="l" defTabSz="2743200" rtl="0" eaLnBrk="1" latinLnBrk="0" hangingPunct="1">
                <a:lnSpc>
                  <a:spcPct val="90000"/>
                </a:lnSpc>
                <a:spcBef>
                  <a:spcPts val="1800"/>
                </a:spcBef>
                <a:buFont typeface="Arial" panose="020B0604020202020204" pitchFamily="34" charset="0"/>
                <a:buNone/>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algn="ctr">
                <a:lnSpc>
                  <a:spcPct val="100000"/>
                </a:lnSpc>
                <a:spcBef>
                  <a:spcPts val="600"/>
                </a:spcBef>
              </a:pPr>
              <a:r>
                <a:rPr lang="en-US" sz="2400" dirty="0">
                  <a:solidFill>
                    <a:schemeClr val="tx1">
                      <a:lumMod val="75000"/>
                      <a:lumOff val="25000"/>
                    </a:schemeClr>
                  </a:solidFill>
                </a:rPr>
                <a:t>Daniel Carver</a:t>
              </a:r>
            </a:p>
            <a:p>
              <a:pPr algn="ctr">
                <a:lnSpc>
                  <a:spcPct val="100000"/>
                </a:lnSpc>
                <a:spcBef>
                  <a:spcPts val="600"/>
                </a:spcBef>
              </a:pPr>
              <a:r>
                <a:rPr lang="en-US" sz="2400" dirty="0">
                  <a:solidFill>
                    <a:schemeClr val="tx1">
                      <a:lumMod val="75000"/>
                      <a:lumOff val="25000"/>
                    </a:schemeClr>
                  </a:solidFill>
                </a:rPr>
                <a:t>Geoinformatics Fellow</a:t>
              </a:r>
            </a:p>
          </p:txBody>
        </p:sp>
        <p:grpSp>
          <p:nvGrpSpPr>
            <p:cNvPr id="9" name="Group 8">
              <a:extLst>
                <a:ext uri="{FF2B5EF4-FFF2-40B4-BE49-F238E27FC236}">
                  <a16:creationId xmlns:a16="http://schemas.microsoft.com/office/drawing/2014/main" id="{C7C231CC-2997-4D4A-B152-9850E2A28C35}"/>
                </a:ext>
              </a:extLst>
            </p:cNvPr>
            <p:cNvGrpSpPr/>
            <p:nvPr/>
          </p:nvGrpSpPr>
          <p:grpSpPr>
            <a:xfrm>
              <a:off x="17549703" y="27960150"/>
              <a:ext cx="2057404" cy="2046184"/>
              <a:chOff x="17614440" y="31206634"/>
              <a:chExt cx="2057404" cy="2046184"/>
            </a:xfrm>
          </p:grpSpPr>
          <p:pic>
            <p:nvPicPr>
              <p:cNvPr id="88" name="Picture 8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7614440" y="31206634"/>
                <a:ext cx="2057404" cy="2046184"/>
              </a:xfrm>
              <a:prstGeom prst="rect">
                <a:avLst/>
              </a:prstGeom>
            </p:spPr>
          </p:pic>
          <p:pic>
            <p:nvPicPr>
              <p:cNvPr id="4" name="Picture 3" descr="A person standing in front of a building&#10;&#10;Description generated with very high confidence">
                <a:extLst>
                  <a:ext uri="{FF2B5EF4-FFF2-40B4-BE49-F238E27FC236}">
                    <a16:creationId xmlns:a16="http://schemas.microsoft.com/office/drawing/2014/main" id="{C851D9DE-F137-43D0-8570-2A1F98D2819F}"/>
                  </a:ext>
                </a:extLst>
              </p:cNvPr>
              <p:cNvPicPr>
                <a:picLocks/>
              </p:cNvPicPr>
              <p:nvPr/>
            </p:nvPicPr>
            <p:blipFill rotWithShape="1">
              <a:blip r:embed="rId12" cstate="print">
                <a:extLst>
                  <a:ext uri="{28A0092B-C50C-407E-A947-70E740481C1C}">
                    <a14:useLocalDpi xmlns:a14="http://schemas.microsoft.com/office/drawing/2010/main" val="0"/>
                  </a:ext>
                </a:extLst>
              </a:blip>
              <a:srcRect/>
              <a:stretch/>
            </p:blipFill>
            <p:spPr>
              <a:xfrm>
                <a:off x="17820182" y="31406766"/>
                <a:ext cx="1645920" cy="1645920"/>
              </a:xfrm>
              <a:prstGeom prst="ellipse">
                <a:avLst/>
              </a:prstGeom>
            </p:spPr>
          </p:pic>
        </p:grpSp>
      </p:grpSp>
      <p:grpSp>
        <p:nvGrpSpPr>
          <p:cNvPr id="254" name="Group 253">
            <a:extLst>
              <a:ext uri="{FF2B5EF4-FFF2-40B4-BE49-F238E27FC236}">
                <a16:creationId xmlns:a16="http://schemas.microsoft.com/office/drawing/2014/main" id="{E2FE75A8-FD3A-49DD-AA1A-A80CFE80CF17}"/>
              </a:ext>
            </a:extLst>
          </p:cNvPr>
          <p:cNvGrpSpPr/>
          <p:nvPr/>
        </p:nvGrpSpPr>
        <p:grpSpPr>
          <a:xfrm>
            <a:off x="13827126" y="11785235"/>
            <a:ext cx="12537183" cy="6483052"/>
            <a:chOff x="13827126" y="11785235"/>
            <a:chExt cx="12537183" cy="6483052"/>
          </a:xfrm>
        </p:grpSpPr>
        <p:sp>
          <p:nvSpPr>
            <p:cNvPr id="18" name="TextBox 17"/>
            <p:cNvSpPr txBox="1"/>
            <p:nvPr/>
          </p:nvSpPr>
          <p:spPr>
            <a:xfrm>
              <a:off x="13827126" y="11785235"/>
              <a:ext cx="12537183"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Study Area</a:t>
              </a:r>
            </a:p>
          </p:txBody>
        </p:sp>
        <p:grpSp>
          <p:nvGrpSpPr>
            <p:cNvPr id="83" name="Group 82">
              <a:extLst>
                <a:ext uri="{FF2B5EF4-FFF2-40B4-BE49-F238E27FC236}">
                  <a16:creationId xmlns:a16="http://schemas.microsoft.com/office/drawing/2014/main" id="{EA9EA3FD-96B8-476F-B993-B39ABF851BA9}"/>
                </a:ext>
              </a:extLst>
            </p:cNvPr>
            <p:cNvGrpSpPr/>
            <p:nvPr/>
          </p:nvGrpSpPr>
          <p:grpSpPr>
            <a:xfrm>
              <a:off x="13884276" y="12690447"/>
              <a:ext cx="12410183" cy="5577840"/>
              <a:chOff x="13954126" y="12704961"/>
              <a:chExt cx="12410183" cy="5577840"/>
            </a:xfrm>
          </p:grpSpPr>
          <p:sp>
            <p:nvSpPr>
              <p:cNvPr id="101" name="Rectangle 100">
                <a:extLst>
                  <a:ext uri="{FF2B5EF4-FFF2-40B4-BE49-F238E27FC236}">
                    <a16:creationId xmlns:a16="http://schemas.microsoft.com/office/drawing/2014/main" id="{3721716B-AC22-412D-9C0F-2B78B0AA92E6}"/>
                  </a:ext>
                </a:extLst>
              </p:cNvPr>
              <p:cNvSpPr/>
              <p:nvPr/>
            </p:nvSpPr>
            <p:spPr>
              <a:xfrm>
                <a:off x="13954126" y="12704961"/>
                <a:ext cx="9692640" cy="5577840"/>
              </a:xfrm>
              <a:prstGeom prst="rect">
                <a:avLst/>
              </a:prstGeom>
              <a:noFill/>
              <a:ln w="3810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 name="Group 81">
                <a:extLst>
                  <a:ext uri="{FF2B5EF4-FFF2-40B4-BE49-F238E27FC236}">
                    <a16:creationId xmlns:a16="http://schemas.microsoft.com/office/drawing/2014/main" id="{8546B2D5-A9BE-4A83-9A9A-7791D91CF7CE}"/>
                  </a:ext>
                </a:extLst>
              </p:cNvPr>
              <p:cNvGrpSpPr/>
              <p:nvPr/>
            </p:nvGrpSpPr>
            <p:grpSpPr>
              <a:xfrm>
                <a:off x="13983131" y="12750681"/>
                <a:ext cx="12381178" cy="5486400"/>
                <a:chOff x="13983131" y="12750681"/>
                <a:chExt cx="12381178" cy="5486400"/>
              </a:xfrm>
            </p:grpSpPr>
            <p:sp>
              <p:nvSpPr>
                <p:cNvPr id="172" name="Text Placeholder 16">
                  <a:extLst>
                    <a:ext uri="{FF2B5EF4-FFF2-40B4-BE49-F238E27FC236}">
                      <a16:creationId xmlns:a16="http://schemas.microsoft.com/office/drawing/2014/main" id="{FF531437-FFC3-4B37-BD18-39AE695B9DAC}"/>
                    </a:ext>
                  </a:extLst>
                </p:cNvPr>
                <p:cNvSpPr txBox="1">
                  <a:spLocks/>
                </p:cNvSpPr>
                <p:nvPr/>
              </p:nvSpPr>
              <p:spPr>
                <a:xfrm>
                  <a:off x="23773452" y="13404979"/>
                  <a:ext cx="2590857" cy="4177805"/>
                </a:xfrm>
                <a:prstGeom prst="rect">
                  <a:avLst/>
                </a:prstGeom>
              </p:spPr>
              <p:txBody>
                <a:bodyPr numCol="1" spcCol="640080"/>
                <a:lstStyle>
                  <a:lvl1pPr marL="457200" indent="-457200" algn="l" defTabSz="2743200" rtl="0" eaLnBrk="1" latinLnBrk="0" hangingPunct="1">
                    <a:lnSpc>
                      <a:spcPct val="90000"/>
                    </a:lnSpc>
                    <a:spcBef>
                      <a:spcPts val="1800"/>
                    </a:spcBef>
                    <a:buClr>
                      <a:schemeClr val="accent1"/>
                    </a:buClr>
                    <a:buFont typeface="Webdings" panose="05030102010509060703" pitchFamily="18" charset="2"/>
                    <a:buChar char="4"/>
                    <a:defRPr sz="2700" kern="1200" baseline="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Arial" panose="020B0604020202020204" pitchFamily="34" charset="0"/>
                    <a:buChar char="•"/>
                    <a:defRPr sz="27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Arial" panose="020B0604020202020204" pitchFamily="34" charset="0"/>
                    <a:buChar char="•"/>
                    <a:defRPr sz="5400" kern="1200">
                      <a:solidFill>
                        <a:schemeClr val="tx1"/>
                      </a:solidFill>
                      <a:latin typeface="+mn-lt"/>
                      <a:ea typeface="+mn-ea"/>
                      <a:cs typeface="+mn-cs"/>
                    </a:defRPr>
                  </a:lvl9pPr>
                </a:lstStyle>
                <a:p>
                  <a:pPr marL="0" indent="0" algn="ctr">
                    <a:spcBef>
                      <a:spcPts val="0"/>
                    </a:spcBef>
                    <a:buClr>
                      <a:srgbClr val="389CC4"/>
                    </a:buClr>
                    <a:buNone/>
                  </a:pPr>
                  <a:r>
                    <a:rPr lang="en-US" sz="1600" b="1" dirty="0">
                      <a:solidFill>
                        <a:schemeClr val="tx1">
                          <a:lumMod val="75000"/>
                          <a:lumOff val="25000"/>
                        </a:schemeClr>
                      </a:solidFill>
                    </a:rPr>
                    <a:t>Study Area Map</a:t>
                  </a:r>
                </a:p>
                <a:p>
                  <a:pPr marL="0" indent="0" algn="ctr">
                    <a:spcBef>
                      <a:spcPts val="0"/>
                    </a:spcBef>
                    <a:buClr>
                      <a:srgbClr val="389CC4"/>
                    </a:buClr>
                    <a:buNone/>
                  </a:pPr>
                  <a:endParaRPr lang="en-US" sz="1600" b="1" dirty="0">
                    <a:solidFill>
                      <a:schemeClr val="tx1">
                        <a:lumMod val="75000"/>
                        <a:lumOff val="25000"/>
                      </a:schemeClr>
                    </a:solidFill>
                  </a:endParaRPr>
                </a:p>
                <a:p>
                  <a:pPr marL="0" indent="0" algn="just">
                    <a:spcBef>
                      <a:spcPts val="0"/>
                    </a:spcBef>
                    <a:buClr>
                      <a:srgbClr val="389CC4"/>
                    </a:buClr>
                    <a:buNone/>
                  </a:pPr>
                  <a:r>
                    <a:rPr lang="en-US" sz="1600" dirty="0">
                      <a:solidFill>
                        <a:schemeClr val="tx1">
                          <a:lumMod val="75000"/>
                          <a:lumOff val="25000"/>
                        </a:schemeClr>
                      </a:solidFill>
                    </a:rPr>
                    <a:t>Our study area covers about </a:t>
                  </a:r>
                  <a:r>
                    <a:rPr lang="en-US" sz="1600" b="1" dirty="0">
                      <a:solidFill>
                        <a:schemeClr val="tx1">
                          <a:lumMod val="75000"/>
                          <a:lumOff val="25000"/>
                        </a:schemeClr>
                      </a:solidFill>
                    </a:rPr>
                    <a:t>872 kilometers </a:t>
                  </a:r>
                  <a:r>
                    <a:rPr lang="en-US" sz="1600" dirty="0">
                      <a:solidFill>
                        <a:schemeClr val="tx1">
                          <a:lumMod val="75000"/>
                          <a:lumOff val="25000"/>
                        </a:schemeClr>
                      </a:solidFill>
                    </a:rPr>
                    <a:t>of riparian corridors in the Upper Colorado River Basin.</a:t>
                  </a:r>
                </a:p>
                <a:p>
                  <a:pPr marL="0" indent="0" algn="just">
                    <a:spcBef>
                      <a:spcPts val="0"/>
                    </a:spcBef>
                    <a:buClr>
                      <a:srgbClr val="389CC4"/>
                    </a:buClr>
                    <a:buNone/>
                  </a:pPr>
                  <a:endParaRPr lang="en-US" sz="1600" dirty="0">
                    <a:solidFill>
                      <a:schemeClr val="tx1">
                        <a:lumMod val="75000"/>
                        <a:lumOff val="25000"/>
                      </a:schemeClr>
                    </a:solidFill>
                  </a:endParaRPr>
                </a:p>
                <a:p>
                  <a:pPr marL="0" indent="0" algn="just">
                    <a:spcBef>
                      <a:spcPts val="0"/>
                    </a:spcBef>
                    <a:buClr>
                      <a:srgbClr val="389CC4"/>
                    </a:buClr>
                    <a:buNone/>
                  </a:pPr>
                  <a:r>
                    <a:rPr lang="en-US" sz="1600" dirty="0">
                      <a:solidFill>
                        <a:schemeClr val="tx1">
                          <a:lumMod val="75000"/>
                          <a:lumOff val="25000"/>
                        </a:schemeClr>
                      </a:solidFill>
                    </a:rPr>
                    <a:t>The time frame for our study was from </a:t>
                  </a:r>
                  <a:r>
                    <a:rPr lang="en-US" sz="1600" b="1" dirty="0">
                      <a:solidFill>
                        <a:schemeClr val="tx1">
                          <a:lumMod val="75000"/>
                          <a:lumOff val="25000"/>
                        </a:schemeClr>
                      </a:solidFill>
                    </a:rPr>
                    <a:t>1984</a:t>
                  </a:r>
                  <a:r>
                    <a:rPr lang="en-US" sz="1600" dirty="0">
                      <a:solidFill>
                        <a:schemeClr val="tx1">
                          <a:lumMod val="75000"/>
                          <a:lumOff val="25000"/>
                        </a:schemeClr>
                      </a:solidFill>
                    </a:rPr>
                    <a:t> to </a:t>
                  </a:r>
                  <a:r>
                    <a:rPr lang="en-US" sz="1600" b="1" dirty="0">
                      <a:solidFill>
                        <a:schemeClr val="tx1">
                          <a:lumMod val="75000"/>
                          <a:lumOff val="25000"/>
                        </a:schemeClr>
                      </a:solidFill>
                    </a:rPr>
                    <a:t>2017</a:t>
                  </a:r>
                  <a:r>
                    <a:rPr lang="en-US" sz="1600" dirty="0">
                      <a:solidFill>
                        <a:schemeClr val="tx1">
                          <a:lumMod val="75000"/>
                          <a:lumOff val="25000"/>
                        </a:schemeClr>
                      </a:solidFill>
                    </a:rPr>
                    <a:t>. </a:t>
                  </a:r>
                </a:p>
                <a:p>
                  <a:pPr marL="0" indent="0" algn="just">
                    <a:spcBef>
                      <a:spcPts val="0"/>
                    </a:spcBef>
                    <a:buClr>
                      <a:srgbClr val="389CC4"/>
                    </a:buClr>
                    <a:buNone/>
                  </a:pPr>
                  <a:endParaRPr lang="en-US" sz="1600" dirty="0">
                    <a:solidFill>
                      <a:schemeClr val="tx1">
                        <a:lumMod val="75000"/>
                        <a:lumOff val="25000"/>
                      </a:schemeClr>
                    </a:solidFill>
                  </a:endParaRPr>
                </a:p>
                <a:p>
                  <a:pPr marL="0" indent="0" algn="just">
                    <a:spcBef>
                      <a:spcPts val="0"/>
                    </a:spcBef>
                    <a:buClr>
                      <a:srgbClr val="389CC4"/>
                    </a:buClr>
                    <a:buNone/>
                  </a:pPr>
                  <a:r>
                    <a:rPr lang="en-US" sz="1600" dirty="0">
                      <a:solidFill>
                        <a:schemeClr val="tx1">
                          <a:lumMod val="75000"/>
                          <a:lumOff val="25000"/>
                        </a:schemeClr>
                      </a:solidFill>
                    </a:rPr>
                    <a:t>To better illustrate our findings, we focused on </a:t>
                  </a:r>
                  <a:r>
                    <a:rPr lang="en-US" sz="1600" b="1" dirty="0">
                      <a:solidFill>
                        <a:schemeClr val="tx1">
                          <a:lumMod val="75000"/>
                          <a:lumOff val="25000"/>
                        </a:schemeClr>
                      </a:solidFill>
                    </a:rPr>
                    <a:t>Snider Bottom </a:t>
                  </a:r>
                  <a:r>
                    <a:rPr lang="en-US" sz="1600" dirty="0">
                      <a:solidFill>
                        <a:schemeClr val="tx1">
                          <a:lumMod val="75000"/>
                          <a:lumOff val="25000"/>
                        </a:schemeClr>
                      </a:solidFill>
                    </a:rPr>
                    <a:t>because it appears vegetation has encroached into the active stream channel, the channel has narrowed, and endangered species habitat has potentially been reduced in this area.</a:t>
                  </a:r>
                </a:p>
                <a:p>
                  <a:pPr marL="0" indent="0" algn="just">
                    <a:spcBef>
                      <a:spcPts val="0"/>
                    </a:spcBef>
                    <a:buClr>
                      <a:srgbClr val="389CC4"/>
                    </a:buClr>
                    <a:buNone/>
                  </a:pPr>
                  <a:endParaRPr lang="en-US" sz="1600" b="1" dirty="0">
                    <a:solidFill>
                      <a:schemeClr val="tx1">
                        <a:lumMod val="75000"/>
                        <a:lumOff val="25000"/>
                      </a:schemeClr>
                    </a:solidFill>
                  </a:endParaRPr>
                </a:p>
              </p:txBody>
            </p:sp>
            <p:grpSp>
              <p:nvGrpSpPr>
                <p:cNvPr id="274" name="Group 273">
                  <a:extLst>
                    <a:ext uri="{FF2B5EF4-FFF2-40B4-BE49-F238E27FC236}">
                      <a16:creationId xmlns:a16="http://schemas.microsoft.com/office/drawing/2014/main" id="{88BEDD52-30EA-4833-AD9E-2C34794FBC1B}"/>
                    </a:ext>
                  </a:extLst>
                </p:cNvPr>
                <p:cNvGrpSpPr/>
                <p:nvPr/>
              </p:nvGrpSpPr>
              <p:grpSpPr>
                <a:xfrm>
                  <a:off x="13983131" y="12750681"/>
                  <a:ext cx="9634631" cy="5486400"/>
                  <a:chOff x="13982163" y="12749783"/>
                  <a:chExt cx="9634631" cy="5486400"/>
                </a:xfrm>
              </p:grpSpPr>
              <p:grpSp>
                <p:nvGrpSpPr>
                  <p:cNvPr id="75" name="Group 74">
                    <a:extLst>
                      <a:ext uri="{FF2B5EF4-FFF2-40B4-BE49-F238E27FC236}">
                        <a16:creationId xmlns:a16="http://schemas.microsoft.com/office/drawing/2014/main" id="{E927830D-8FEE-424E-BE1A-4594246D5BC0}"/>
                      </a:ext>
                    </a:extLst>
                  </p:cNvPr>
                  <p:cNvGrpSpPr/>
                  <p:nvPr/>
                </p:nvGrpSpPr>
                <p:grpSpPr>
                  <a:xfrm>
                    <a:off x="21057966" y="12841524"/>
                    <a:ext cx="2465896" cy="2696643"/>
                    <a:chOff x="20901574" y="12938624"/>
                    <a:chExt cx="2465896" cy="2696643"/>
                  </a:xfrm>
                </p:grpSpPr>
                <p:sp>
                  <p:nvSpPr>
                    <p:cNvPr id="106" name="Rectangle 105">
                      <a:extLst>
                        <a:ext uri="{FF2B5EF4-FFF2-40B4-BE49-F238E27FC236}">
                          <a16:creationId xmlns:a16="http://schemas.microsoft.com/office/drawing/2014/main" id="{543B64B0-3811-4B34-A21B-6CC05E2D3E62}"/>
                        </a:ext>
                      </a:extLst>
                    </p:cNvPr>
                    <p:cNvSpPr/>
                    <p:nvPr/>
                  </p:nvSpPr>
                  <p:spPr>
                    <a:xfrm>
                      <a:off x="20901574" y="12938624"/>
                      <a:ext cx="2465896" cy="2696643"/>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7" name="Group 106">
                      <a:extLst>
                        <a:ext uri="{FF2B5EF4-FFF2-40B4-BE49-F238E27FC236}">
                          <a16:creationId xmlns:a16="http://schemas.microsoft.com/office/drawing/2014/main" id="{957617AB-3735-430A-9665-3793F302CB7C}"/>
                        </a:ext>
                      </a:extLst>
                    </p:cNvPr>
                    <p:cNvGrpSpPr/>
                    <p:nvPr/>
                  </p:nvGrpSpPr>
                  <p:grpSpPr>
                    <a:xfrm>
                      <a:off x="21068685" y="13115715"/>
                      <a:ext cx="2131674" cy="2342460"/>
                      <a:chOff x="1416161" y="564502"/>
                      <a:chExt cx="2199970" cy="2455609"/>
                    </a:xfrm>
                  </p:grpSpPr>
                  <p:grpSp>
                    <p:nvGrpSpPr>
                      <p:cNvPr id="122" name="Group 121">
                        <a:extLst>
                          <a:ext uri="{FF2B5EF4-FFF2-40B4-BE49-F238E27FC236}">
                            <a16:creationId xmlns:a16="http://schemas.microsoft.com/office/drawing/2014/main" id="{6381E46F-51F9-4667-842D-863E7ABB6AE8}"/>
                          </a:ext>
                        </a:extLst>
                      </p:cNvPr>
                      <p:cNvGrpSpPr/>
                      <p:nvPr/>
                    </p:nvGrpSpPr>
                    <p:grpSpPr>
                      <a:xfrm>
                        <a:off x="1416161" y="564502"/>
                        <a:ext cx="1958432" cy="354931"/>
                        <a:chOff x="1419083" y="608252"/>
                        <a:chExt cx="1958432" cy="355019"/>
                      </a:xfrm>
                    </p:grpSpPr>
                    <p:pic>
                      <p:nvPicPr>
                        <p:cNvPr id="132" name="Picture 131" descr="A close up of a logo&#10;&#10;Description generated with very high confidence">
                          <a:extLst>
                            <a:ext uri="{FF2B5EF4-FFF2-40B4-BE49-F238E27FC236}">
                              <a16:creationId xmlns:a16="http://schemas.microsoft.com/office/drawing/2014/main" id="{328094FC-87D2-4B5E-B73D-EAD50E115564}"/>
                            </a:ext>
                          </a:extLst>
                        </p:cNvPr>
                        <p:cNvPicPr>
                          <a:picLocks noChangeAspect="1"/>
                        </p:cNvPicPr>
                        <p:nvPr/>
                      </p:nvPicPr>
                      <p:blipFill rotWithShape="1">
                        <a:blip r:embed="rId13" cstate="hqprint">
                          <a:extLst>
                            <a:ext uri="{28A0092B-C50C-407E-A947-70E740481C1C}">
                              <a14:useLocalDpi xmlns:a14="http://schemas.microsoft.com/office/drawing/2010/main"/>
                            </a:ext>
                          </a:extLst>
                        </a:blip>
                        <a:srcRect/>
                        <a:stretch/>
                      </p:blipFill>
                      <p:spPr>
                        <a:xfrm flipV="1">
                          <a:off x="1419083" y="608252"/>
                          <a:ext cx="571861" cy="338602"/>
                        </a:xfrm>
                        <a:prstGeom prst="rect">
                          <a:avLst/>
                        </a:prstGeom>
                      </p:spPr>
                    </p:pic>
                    <p:sp>
                      <p:nvSpPr>
                        <p:cNvPr id="133" name="TextBox 132">
                          <a:extLst>
                            <a:ext uri="{FF2B5EF4-FFF2-40B4-BE49-F238E27FC236}">
                              <a16:creationId xmlns:a16="http://schemas.microsoft.com/office/drawing/2014/main" id="{AFAE220C-9670-4A20-A63D-A88300BA24A4}"/>
                            </a:ext>
                          </a:extLst>
                        </p:cNvPr>
                        <p:cNvSpPr txBox="1"/>
                        <p:nvPr/>
                      </p:nvSpPr>
                      <p:spPr>
                        <a:xfrm>
                          <a:off x="2060313" y="608276"/>
                          <a:ext cx="1317202" cy="354995"/>
                        </a:xfrm>
                        <a:prstGeom prst="rect">
                          <a:avLst/>
                        </a:prstGeom>
                        <a:noFill/>
                      </p:spPr>
                      <p:txBody>
                        <a:bodyPr wrap="none" rtlCol="0">
                          <a:spAutoFit/>
                        </a:bodyPr>
                        <a:lstStyle/>
                        <a:p>
                          <a:r>
                            <a:rPr lang="en-US" sz="1600" dirty="0">
                              <a:solidFill>
                                <a:schemeClr val="tx1">
                                  <a:lumMod val="75000"/>
                                  <a:lumOff val="25000"/>
                                </a:schemeClr>
                              </a:solidFill>
                              <a:latin typeface="Century Gothic" panose="020B0502020202020204" pitchFamily="34" charset="0"/>
                            </a:rPr>
                            <a:t>Study Area</a:t>
                          </a:r>
                        </a:p>
                      </p:txBody>
                    </p:sp>
                  </p:grpSp>
                  <p:grpSp>
                    <p:nvGrpSpPr>
                      <p:cNvPr id="123" name="Group 122">
                        <a:extLst>
                          <a:ext uri="{FF2B5EF4-FFF2-40B4-BE49-F238E27FC236}">
                            <a16:creationId xmlns:a16="http://schemas.microsoft.com/office/drawing/2014/main" id="{9A2FEE1C-43E6-4099-A5F3-D97C47AEA521}"/>
                          </a:ext>
                        </a:extLst>
                      </p:cNvPr>
                      <p:cNvGrpSpPr/>
                      <p:nvPr/>
                    </p:nvGrpSpPr>
                    <p:grpSpPr>
                      <a:xfrm>
                        <a:off x="1416161" y="1182714"/>
                        <a:ext cx="1405876" cy="354907"/>
                        <a:chOff x="1419083" y="1281591"/>
                        <a:chExt cx="1405876" cy="354995"/>
                      </a:xfrm>
                    </p:grpSpPr>
                    <p:pic>
                      <p:nvPicPr>
                        <p:cNvPr id="130" name="Picture 129" descr="A close up of a logo&#10;&#10;Description generated with very high confidence">
                          <a:extLst>
                            <a:ext uri="{FF2B5EF4-FFF2-40B4-BE49-F238E27FC236}">
                              <a16:creationId xmlns:a16="http://schemas.microsoft.com/office/drawing/2014/main" id="{036D3C9B-ADB6-4F93-ABEA-E14B355118AB}"/>
                            </a:ext>
                          </a:extLst>
                        </p:cNvPr>
                        <p:cNvPicPr>
                          <a:picLocks noChangeAspect="1"/>
                        </p:cNvPicPr>
                        <p:nvPr/>
                      </p:nvPicPr>
                      <p:blipFill rotWithShape="1">
                        <a:blip r:embed="rId14" cstate="hqprint">
                          <a:extLst>
                            <a:ext uri="{28A0092B-C50C-407E-A947-70E740481C1C}">
                              <a14:useLocalDpi xmlns:a14="http://schemas.microsoft.com/office/drawing/2010/main"/>
                            </a:ext>
                          </a:extLst>
                        </a:blip>
                        <a:srcRect/>
                        <a:stretch/>
                      </p:blipFill>
                      <p:spPr>
                        <a:xfrm flipV="1">
                          <a:off x="1419083" y="1319190"/>
                          <a:ext cx="571861" cy="263357"/>
                        </a:xfrm>
                        <a:prstGeom prst="rect">
                          <a:avLst/>
                        </a:prstGeom>
                      </p:spPr>
                    </p:pic>
                    <p:sp>
                      <p:nvSpPr>
                        <p:cNvPr id="131" name="TextBox 130">
                          <a:extLst>
                            <a:ext uri="{FF2B5EF4-FFF2-40B4-BE49-F238E27FC236}">
                              <a16:creationId xmlns:a16="http://schemas.microsoft.com/office/drawing/2014/main" id="{5BA1CD59-6243-4143-BFE9-BDFCA1C3C4AC}"/>
                            </a:ext>
                          </a:extLst>
                        </p:cNvPr>
                        <p:cNvSpPr txBox="1"/>
                        <p:nvPr/>
                      </p:nvSpPr>
                      <p:spPr>
                        <a:xfrm>
                          <a:off x="2060313" y="1281591"/>
                          <a:ext cx="764646" cy="354995"/>
                        </a:xfrm>
                        <a:prstGeom prst="rect">
                          <a:avLst/>
                        </a:prstGeom>
                        <a:noFill/>
                      </p:spPr>
                      <p:txBody>
                        <a:bodyPr wrap="none" rtlCol="0">
                          <a:spAutoFit/>
                        </a:bodyPr>
                        <a:lstStyle/>
                        <a:p>
                          <a:r>
                            <a:rPr lang="en-US" sz="1600" dirty="0">
                              <a:solidFill>
                                <a:schemeClr val="tx1">
                                  <a:lumMod val="75000"/>
                                  <a:lumOff val="25000"/>
                                </a:schemeClr>
                              </a:solidFill>
                              <a:latin typeface="Century Gothic" panose="020B0502020202020204" pitchFamily="34" charset="0"/>
                            </a:rPr>
                            <a:t>Rivers</a:t>
                          </a:r>
                        </a:p>
                      </p:txBody>
                    </p:sp>
                  </p:grpSp>
                  <p:grpSp>
                    <p:nvGrpSpPr>
                      <p:cNvPr id="124" name="Group 123">
                        <a:extLst>
                          <a:ext uri="{FF2B5EF4-FFF2-40B4-BE49-F238E27FC236}">
                            <a16:creationId xmlns:a16="http://schemas.microsoft.com/office/drawing/2014/main" id="{DDFCEDD5-7D34-4900-A75A-A57A8377C876}"/>
                          </a:ext>
                        </a:extLst>
                      </p:cNvPr>
                      <p:cNvGrpSpPr/>
                      <p:nvPr/>
                    </p:nvGrpSpPr>
                    <p:grpSpPr>
                      <a:xfrm>
                        <a:off x="1416161" y="2665204"/>
                        <a:ext cx="1788034" cy="354907"/>
                        <a:chOff x="1419083" y="2409631"/>
                        <a:chExt cx="1788034" cy="354995"/>
                      </a:xfrm>
                    </p:grpSpPr>
                    <p:pic>
                      <p:nvPicPr>
                        <p:cNvPr id="128" name="Picture 127" descr="A close up of a logo&#10;&#10;Description generated with very high confidence">
                          <a:extLst>
                            <a:ext uri="{FF2B5EF4-FFF2-40B4-BE49-F238E27FC236}">
                              <a16:creationId xmlns:a16="http://schemas.microsoft.com/office/drawing/2014/main" id="{30516C31-B1E8-499B-8B2A-F1C0AAB352D0}"/>
                            </a:ext>
                          </a:extLst>
                        </p:cNvPr>
                        <p:cNvPicPr>
                          <a:picLocks noChangeAspect="1"/>
                        </p:cNvPicPr>
                        <p:nvPr/>
                      </p:nvPicPr>
                      <p:blipFill rotWithShape="1">
                        <a:blip r:embed="rId15" cstate="hqprint">
                          <a:extLst>
                            <a:ext uri="{28A0092B-C50C-407E-A947-70E740481C1C}">
                              <a14:useLocalDpi xmlns:a14="http://schemas.microsoft.com/office/drawing/2010/main"/>
                            </a:ext>
                          </a:extLst>
                        </a:blip>
                        <a:srcRect/>
                        <a:stretch/>
                      </p:blipFill>
                      <p:spPr>
                        <a:xfrm flipV="1">
                          <a:off x="1419083" y="2484852"/>
                          <a:ext cx="571861" cy="188113"/>
                        </a:xfrm>
                        <a:prstGeom prst="rect">
                          <a:avLst/>
                        </a:prstGeom>
                      </p:spPr>
                    </p:pic>
                    <p:sp>
                      <p:nvSpPr>
                        <p:cNvPr id="129" name="TextBox 128">
                          <a:extLst>
                            <a:ext uri="{FF2B5EF4-FFF2-40B4-BE49-F238E27FC236}">
                              <a16:creationId xmlns:a16="http://schemas.microsoft.com/office/drawing/2014/main" id="{C0814D32-B886-4CF5-92B3-883B0C63D909}"/>
                            </a:ext>
                          </a:extLst>
                        </p:cNvPr>
                        <p:cNvSpPr txBox="1"/>
                        <p:nvPr/>
                      </p:nvSpPr>
                      <p:spPr>
                        <a:xfrm>
                          <a:off x="2060313" y="2409631"/>
                          <a:ext cx="1146804" cy="354995"/>
                        </a:xfrm>
                        <a:prstGeom prst="rect">
                          <a:avLst/>
                        </a:prstGeom>
                        <a:noFill/>
                      </p:spPr>
                      <p:txBody>
                        <a:bodyPr wrap="none" rtlCol="0">
                          <a:spAutoFit/>
                        </a:bodyPr>
                        <a:lstStyle/>
                        <a:p>
                          <a:r>
                            <a:rPr lang="en-US" sz="1600" dirty="0">
                              <a:solidFill>
                                <a:schemeClr val="tx1">
                                  <a:lumMod val="75000"/>
                                  <a:lumOff val="25000"/>
                                </a:schemeClr>
                              </a:solidFill>
                              <a:latin typeface="Century Gothic" panose="020B0502020202020204" pitchFamily="34" charset="0"/>
                            </a:rPr>
                            <a:t>Interstate</a:t>
                          </a:r>
                        </a:p>
                      </p:txBody>
                    </p:sp>
                  </p:grpSp>
                  <p:grpSp>
                    <p:nvGrpSpPr>
                      <p:cNvPr id="125" name="Group 124">
                        <a:extLst>
                          <a:ext uri="{FF2B5EF4-FFF2-40B4-BE49-F238E27FC236}">
                            <a16:creationId xmlns:a16="http://schemas.microsoft.com/office/drawing/2014/main" id="{18EA3745-4ABA-416D-894B-6943986C17A1}"/>
                          </a:ext>
                        </a:extLst>
                      </p:cNvPr>
                      <p:cNvGrpSpPr/>
                      <p:nvPr/>
                    </p:nvGrpSpPr>
                    <p:grpSpPr>
                      <a:xfrm>
                        <a:off x="1416161" y="1800878"/>
                        <a:ext cx="2199970" cy="613022"/>
                        <a:chOff x="1419083" y="1608825"/>
                        <a:chExt cx="2199970" cy="613174"/>
                      </a:xfrm>
                    </p:grpSpPr>
                    <p:pic>
                      <p:nvPicPr>
                        <p:cNvPr id="126" name="Picture 125" descr="A close up of a logo&#10;&#10;Description generated with very high confidence">
                          <a:extLst>
                            <a:ext uri="{FF2B5EF4-FFF2-40B4-BE49-F238E27FC236}">
                              <a16:creationId xmlns:a16="http://schemas.microsoft.com/office/drawing/2014/main" id="{5C8BA571-5E41-4C9C-A971-7E508F3A1354}"/>
                            </a:ext>
                          </a:extLst>
                        </p:cNvPr>
                        <p:cNvPicPr>
                          <a:picLocks noChangeAspect="1"/>
                        </p:cNvPicPr>
                        <p:nvPr/>
                      </p:nvPicPr>
                      <p:blipFill rotWithShape="1">
                        <a:blip r:embed="rId16" cstate="hqprint">
                          <a:extLst>
                            <a:ext uri="{28A0092B-C50C-407E-A947-70E740481C1C}">
                              <a14:useLocalDpi xmlns:a14="http://schemas.microsoft.com/office/drawing/2010/main"/>
                            </a:ext>
                          </a:extLst>
                        </a:blip>
                        <a:srcRect/>
                        <a:stretch/>
                      </p:blipFill>
                      <p:spPr>
                        <a:xfrm rot="10800000" flipV="1">
                          <a:off x="1419083" y="1726267"/>
                          <a:ext cx="571861" cy="349889"/>
                        </a:xfrm>
                        <a:prstGeom prst="rect">
                          <a:avLst/>
                        </a:prstGeom>
                      </p:spPr>
                    </p:pic>
                    <p:sp>
                      <p:nvSpPr>
                        <p:cNvPr id="127" name="TextBox 126">
                          <a:extLst>
                            <a:ext uri="{FF2B5EF4-FFF2-40B4-BE49-F238E27FC236}">
                              <a16:creationId xmlns:a16="http://schemas.microsoft.com/office/drawing/2014/main" id="{E5DCAC04-1D6B-4791-9224-08222D167445}"/>
                            </a:ext>
                          </a:extLst>
                        </p:cNvPr>
                        <p:cNvSpPr txBox="1"/>
                        <p:nvPr/>
                      </p:nvSpPr>
                      <p:spPr>
                        <a:xfrm>
                          <a:off x="2060313" y="1608825"/>
                          <a:ext cx="1558740" cy="613174"/>
                        </a:xfrm>
                        <a:prstGeom prst="rect">
                          <a:avLst/>
                        </a:prstGeom>
                        <a:noFill/>
                      </p:spPr>
                      <p:txBody>
                        <a:bodyPr wrap="none" rtlCol="0">
                          <a:spAutoFit/>
                        </a:bodyPr>
                        <a:lstStyle/>
                        <a:p>
                          <a:r>
                            <a:rPr lang="en-US" sz="1600" dirty="0">
                              <a:solidFill>
                                <a:schemeClr val="tx1">
                                  <a:lumMod val="75000"/>
                                  <a:lumOff val="25000"/>
                                </a:schemeClr>
                              </a:solidFill>
                              <a:latin typeface="Century Gothic" panose="020B0502020202020204" pitchFamily="34" charset="0"/>
                            </a:rPr>
                            <a:t>National Park</a:t>
                          </a:r>
                        </a:p>
                        <a:p>
                          <a:r>
                            <a:rPr lang="en-US" sz="1600" dirty="0">
                              <a:solidFill>
                                <a:schemeClr val="tx1">
                                  <a:lumMod val="75000"/>
                                  <a:lumOff val="25000"/>
                                </a:schemeClr>
                              </a:solidFill>
                              <a:latin typeface="Century Gothic" panose="020B0502020202020204" pitchFamily="34" charset="0"/>
                            </a:rPr>
                            <a:t>Service Land</a:t>
                          </a:r>
                        </a:p>
                      </p:txBody>
                    </p:sp>
                  </p:grpSp>
                </p:grpSp>
              </p:grpSp>
              <p:grpSp>
                <p:nvGrpSpPr>
                  <p:cNvPr id="71" name="Group 70">
                    <a:extLst>
                      <a:ext uri="{FF2B5EF4-FFF2-40B4-BE49-F238E27FC236}">
                        <a16:creationId xmlns:a16="http://schemas.microsoft.com/office/drawing/2014/main" id="{6DF49B58-6179-4F41-8161-BC92A473DBDE}"/>
                      </a:ext>
                    </a:extLst>
                  </p:cNvPr>
                  <p:cNvGrpSpPr/>
                  <p:nvPr/>
                </p:nvGrpSpPr>
                <p:grpSpPr>
                  <a:xfrm>
                    <a:off x="13982163" y="12749783"/>
                    <a:ext cx="7040880" cy="5486400"/>
                    <a:chOff x="13825771" y="12846883"/>
                    <a:chExt cx="7040880" cy="5486400"/>
                  </a:xfrm>
                </p:grpSpPr>
                <p:pic>
                  <p:nvPicPr>
                    <p:cNvPr id="60" name="Picture 59" descr="A close up of a map&#10;&#10;Description generated with very high confidence">
                      <a:extLst>
                        <a:ext uri="{FF2B5EF4-FFF2-40B4-BE49-F238E27FC236}">
                          <a16:creationId xmlns:a16="http://schemas.microsoft.com/office/drawing/2014/main" id="{C1AB6DE8-3486-4729-ABA9-61CBC8C68EFD}"/>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13825771" y="12846883"/>
                      <a:ext cx="7040880" cy="5486400"/>
                    </a:xfrm>
                    <a:prstGeom prst="rect">
                      <a:avLst/>
                    </a:prstGeom>
                  </p:spPr>
                </p:pic>
                <p:sp>
                  <p:nvSpPr>
                    <p:cNvPr id="108" name="TextBox 107">
                      <a:extLst>
                        <a:ext uri="{FF2B5EF4-FFF2-40B4-BE49-F238E27FC236}">
                          <a16:creationId xmlns:a16="http://schemas.microsoft.com/office/drawing/2014/main" id="{47DA5C64-0777-4012-B3F5-544AA6AB4F6C}"/>
                        </a:ext>
                      </a:extLst>
                    </p:cNvPr>
                    <p:cNvSpPr txBox="1"/>
                    <p:nvPr/>
                  </p:nvSpPr>
                  <p:spPr>
                    <a:xfrm>
                      <a:off x="14145098" y="13472785"/>
                      <a:ext cx="1507144" cy="338554"/>
                    </a:xfrm>
                    <a:prstGeom prst="rect">
                      <a:avLst/>
                    </a:prstGeom>
                    <a:noFill/>
                  </p:spPr>
                  <p:txBody>
                    <a:bodyPr wrap="none" rtlCol="0">
                      <a:spAutoFit/>
                    </a:bodyPr>
                    <a:lstStyle/>
                    <a:p>
                      <a:pPr algn="ctr"/>
                      <a:r>
                        <a:rPr lang="en-US" sz="1600" dirty="0">
                          <a:solidFill>
                            <a:schemeClr val="tx1">
                              <a:lumMod val="75000"/>
                              <a:lumOff val="25000"/>
                            </a:schemeClr>
                          </a:solidFill>
                          <a:latin typeface="Century Gothic" panose="020B0502020202020204" pitchFamily="34" charset="0"/>
                        </a:rPr>
                        <a:t>Salt Lake City</a:t>
                      </a:r>
                    </a:p>
                  </p:txBody>
                </p:sp>
                <p:sp>
                  <p:nvSpPr>
                    <p:cNvPr id="109" name="TextBox 108">
                      <a:extLst>
                        <a:ext uri="{FF2B5EF4-FFF2-40B4-BE49-F238E27FC236}">
                          <a16:creationId xmlns:a16="http://schemas.microsoft.com/office/drawing/2014/main" id="{03518FE9-677C-4054-9FE2-D464D272A6C0}"/>
                        </a:ext>
                      </a:extLst>
                    </p:cNvPr>
                    <p:cNvSpPr txBox="1"/>
                    <p:nvPr/>
                  </p:nvSpPr>
                  <p:spPr>
                    <a:xfrm>
                      <a:off x="19041556" y="13962703"/>
                      <a:ext cx="1252594" cy="322954"/>
                    </a:xfrm>
                    <a:prstGeom prst="rect">
                      <a:avLst/>
                    </a:prstGeom>
                    <a:noFill/>
                  </p:spPr>
                  <p:txBody>
                    <a:bodyPr wrap="none" rtlCol="0">
                      <a:spAutoFit/>
                    </a:bodyPr>
                    <a:lstStyle/>
                    <a:p>
                      <a:pPr algn="ctr"/>
                      <a:r>
                        <a:rPr lang="en-US" sz="1600" b="1" i="1" dirty="0">
                          <a:solidFill>
                            <a:srgbClr val="40A5E1"/>
                          </a:solidFill>
                          <a:latin typeface="Garamond" panose="02020404030301010803" pitchFamily="18" charset="0"/>
                        </a:rPr>
                        <a:t>Yampa River</a:t>
                      </a:r>
                    </a:p>
                  </p:txBody>
                </p:sp>
                <p:sp>
                  <p:nvSpPr>
                    <p:cNvPr id="110" name="TextBox 109">
                      <a:extLst>
                        <a:ext uri="{FF2B5EF4-FFF2-40B4-BE49-F238E27FC236}">
                          <a16:creationId xmlns:a16="http://schemas.microsoft.com/office/drawing/2014/main" id="{7AD9060B-6845-4C7E-A931-4D31F642BB42}"/>
                        </a:ext>
                      </a:extLst>
                    </p:cNvPr>
                    <p:cNvSpPr txBox="1"/>
                    <p:nvPr/>
                  </p:nvSpPr>
                  <p:spPr>
                    <a:xfrm>
                      <a:off x="17843558" y="14567972"/>
                      <a:ext cx="1172883" cy="322954"/>
                    </a:xfrm>
                    <a:prstGeom prst="rect">
                      <a:avLst/>
                    </a:prstGeom>
                    <a:noFill/>
                  </p:spPr>
                  <p:txBody>
                    <a:bodyPr wrap="none" rtlCol="0">
                      <a:spAutoFit/>
                    </a:bodyPr>
                    <a:lstStyle/>
                    <a:p>
                      <a:pPr algn="ctr"/>
                      <a:r>
                        <a:rPr lang="en-US" sz="1600" b="1" i="1" dirty="0">
                          <a:solidFill>
                            <a:srgbClr val="40A5E1"/>
                          </a:solidFill>
                          <a:latin typeface="Garamond" panose="02020404030301010803" pitchFamily="18" charset="0"/>
                        </a:rPr>
                        <a:t>White River</a:t>
                      </a:r>
                    </a:p>
                  </p:txBody>
                </p:sp>
                <p:sp>
                  <p:nvSpPr>
                    <p:cNvPr id="111" name="TextBox 110">
                      <a:extLst>
                        <a:ext uri="{FF2B5EF4-FFF2-40B4-BE49-F238E27FC236}">
                          <a16:creationId xmlns:a16="http://schemas.microsoft.com/office/drawing/2014/main" id="{BA67BB6F-2A65-4B63-8FA6-172346EECD64}"/>
                        </a:ext>
                      </a:extLst>
                    </p:cNvPr>
                    <p:cNvSpPr txBox="1"/>
                    <p:nvPr/>
                  </p:nvSpPr>
                  <p:spPr>
                    <a:xfrm>
                      <a:off x="18843092" y="15804995"/>
                      <a:ext cx="1441096" cy="322954"/>
                    </a:xfrm>
                    <a:prstGeom prst="rect">
                      <a:avLst/>
                    </a:prstGeom>
                    <a:noFill/>
                  </p:spPr>
                  <p:txBody>
                    <a:bodyPr wrap="none" rtlCol="0">
                      <a:spAutoFit/>
                    </a:bodyPr>
                    <a:lstStyle/>
                    <a:p>
                      <a:pPr algn="ctr"/>
                      <a:r>
                        <a:rPr lang="en-US" sz="1600" b="1" i="1" dirty="0">
                          <a:solidFill>
                            <a:srgbClr val="40A5E1"/>
                          </a:solidFill>
                          <a:latin typeface="Garamond" panose="02020404030301010803" pitchFamily="18" charset="0"/>
                        </a:rPr>
                        <a:t>Colorado River</a:t>
                      </a:r>
                    </a:p>
                  </p:txBody>
                </p:sp>
                <p:sp>
                  <p:nvSpPr>
                    <p:cNvPr id="112" name="TextBox 111">
                      <a:extLst>
                        <a:ext uri="{FF2B5EF4-FFF2-40B4-BE49-F238E27FC236}">
                          <a16:creationId xmlns:a16="http://schemas.microsoft.com/office/drawing/2014/main" id="{8FED010C-C311-4F78-88F9-3E4EDBD9CA87}"/>
                        </a:ext>
                      </a:extLst>
                    </p:cNvPr>
                    <p:cNvSpPr txBox="1"/>
                    <p:nvPr/>
                  </p:nvSpPr>
                  <p:spPr>
                    <a:xfrm>
                      <a:off x="16609645" y="15333689"/>
                      <a:ext cx="1180523" cy="322954"/>
                    </a:xfrm>
                    <a:prstGeom prst="rect">
                      <a:avLst/>
                    </a:prstGeom>
                    <a:noFill/>
                  </p:spPr>
                  <p:txBody>
                    <a:bodyPr wrap="none" rtlCol="0">
                      <a:spAutoFit/>
                    </a:bodyPr>
                    <a:lstStyle/>
                    <a:p>
                      <a:pPr algn="ctr"/>
                      <a:r>
                        <a:rPr lang="en-US" sz="1600" b="1" i="1" dirty="0">
                          <a:solidFill>
                            <a:srgbClr val="40A5E1"/>
                          </a:solidFill>
                          <a:latin typeface="Garamond" panose="02020404030301010803" pitchFamily="18" charset="0"/>
                        </a:rPr>
                        <a:t>Green River</a:t>
                      </a:r>
                    </a:p>
                  </p:txBody>
                </p:sp>
                <p:sp>
                  <p:nvSpPr>
                    <p:cNvPr id="113" name="TextBox 112">
                      <a:extLst>
                        <a:ext uri="{FF2B5EF4-FFF2-40B4-BE49-F238E27FC236}">
                          <a16:creationId xmlns:a16="http://schemas.microsoft.com/office/drawing/2014/main" id="{D05DED3B-C60D-40D5-9EEE-028C69259F72}"/>
                        </a:ext>
                      </a:extLst>
                    </p:cNvPr>
                    <p:cNvSpPr txBox="1"/>
                    <p:nvPr/>
                  </p:nvSpPr>
                  <p:spPr>
                    <a:xfrm>
                      <a:off x="14463349" y="14338086"/>
                      <a:ext cx="752130" cy="338554"/>
                    </a:xfrm>
                    <a:prstGeom prst="rect">
                      <a:avLst/>
                    </a:prstGeom>
                    <a:noFill/>
                  </p:spPr>
                  <p:txBody>
                    <a:bodyPr wrap="none" rtlCol="0">
                      <a:spAutoFit/>
                    </a:bodyPr>
                    <a:lstStyle/>
                    <a:p>
                      <a:pPr algn="ctr"/>
                      <a:r>
                        <a:rPr lang="en-US" sz="1600" dirty="0">
                          <a:solidFill>
                            <a:schemeClr val="tx1">
                              <a:lumMod val="75000"/>
                              <a:lumOff val="25000"/>
                            </a:schemeClr>
                          </a:solidFill>
                          <a:latin typeface="Century Gothic" panose="020B0502020202020204" pitchFamily="34" charset="0"/>
                        </a:rPr>
                        <a:t>Provo</a:t>
                      </a:r>
                    </a:p>
                  </p:txBody>
                </p:sp>
                <p:sp>
                  <p:nvSpPr>
                    <p:cNvPr id="114" name="TextBox 113">
                      <a:extLst>
                        <a:ext uri="{FF2B5EF4-FFF2-40B4-BE49-F238E27FC236}">
                          <a16:creationId xmlns:a16="http://schemas.microsoft.com/office/drawing/2014/main" id="{CDEBE3B1-CC95-434D-B860-5047D0823380}"/>
                        </a:ext>
                      </a:extLst>
                    </p:cNvPr>
                    <p:cNvSpPr txBox="1"/>
                    <p:nvPr/>
                  </p:nvSpPr>
                  <p:spPr>
                    <a:xfrm>
                      <a:off x="18468175" y="16280297"/>
                      <a:ext cx="1037463" cy="584775"/>
                    </a:xfrm>
                    <a:prstGeom prst="rect">
                      <a:avLst/>
                    </a:prstGeom>
                    <a:noFill/>
                  </p:spPr>
                  <p:txBody>
                    <a:bodyPr wrap="none" rtlCol="0">
                      <a:spAutoFit/>
                    </a:bodyPr>
                    <a:lstStyle/>
                    <a:p>
                      <a:r>
                        <a:rPr lang="en-US" sz="1600" dirty="0">
                          <a:solidFill>
                            <a:schemeClr val="tx1">
                              <a:lumMod val="75000"/>
                              <a:lumOff val="25000"/>
                            </a:schemeClr>
                          </a:solidFill>
                          <a:latin typeface="Century Gothic" panose="020B0502020202020204" pitchFamily="34" charset="0"/>
                        </a:rPr>
                        <a:t>Grand</a:t>
                      </a:r>
                    </a:p>
                    <a:p>
                      <a:r>
                        <a:rPr lang="en-US" sz="1600" dirty="0">
                          <a:solidFill>
                            <a:schemeClr val="tx1">
                              <a:lumMod val="75000"/>
                              <a:lumOff val="25000"/>
                            </a:schemeClr>
                          </a:solidFill>
                          <a:latin typeface="Century Gothic" panose="020B0502020202020204" pitchFamily="34" charset="0"/>
                        </a:rPr>
                        <a:t>Junction</a:t>
                      </a:r>
                    </a:p>
                  </p:txBody>
                </p:sp>
                <p:sp>
                  <p:nvSpPr>
                    <p:cNvPr id="115" name="TextBox 114">
                      <a:extLst>
                        <a:ext uri="{FF2B5EF4-FFF2-40B4-BE49-F238E27FC236}">
                          <a16:creationId xmlns:a16="http://schemas.microsoft.com/office/drawing/2014/main" id="{F609570B-D656-4078-A157-CF0A88C99085}"/>
                        </a:ext>
                      </a:extLst>
                    </p:cNvPr>
                    <p:cNvSpPr txBox="1"/>
                    <p:nvPr/>
                  </p:nvSpPr>
                  <p:spPr>
                    <a:xfrm>
                      <a:off x="17115901" y="17121375"/>
                      <a:ext cx="787396" cy="338554"/>
                    </a:xfrm>
                    <a:prstGeom prst="rect">
                      <a:avLst/>
                    </a:prstGeom>
                    <a:noFill/>
                  </p:spPr>
                  <p:txBody>
                    <a:bodyPr wrap="none" rtlCol="0">
                      <a:spAutoFit/>
                    </a:bodyPr>
                    <a:lstStyle/>
                    <a:p>
                      <a:pPr algn="ctr"/>
                      <a:r>
                        <a:rPr lang="en-US" sz="1600" dirty="0">
                          <a:solidFill>
                            <a:schemeClr val="tx1">
                              <a:lumMod val="75000"/>
                              <a:lumOff val="25000"/>
                            </a:schemeClr>
                          </a:solidFill>
                          <a:latin typeface="Century Gothic" panose="020B0502020202020204" pitchFamily="34" charset="0"/>
                        </a:rPr>
                        <a:t>Moab</a:t>
                      </a:r>
                    </a:p>
                  </p:txBody>
                </p:sp>
                <p:sp>
                  <p:nvSpPr>
                    <p:cNvPr id="116" name="TextBox 115">
                      <a:extLst>
                        <a:ext uri="{FF2B5EF4-FFF2-40B4-BE49-F238E27FC236}">
                          <a16:creationId xmlns:a16="http://schemas.microsoft.com/office/drawing/2014/main" id="{DA129A11-006A-40AC-91D1-C63364AEC934}"/>
                        </a:ext>
                      </a:extLst>
                    </p:cNvPr>
                    <p:cNvSpPr txBox="1"/>
                    <p:nvPr/>
                  </p:nvSpPr>
                  <p:spPr>
                    <a:xfrm>
                      <a:off x="15065168" y="16125993"/>
                      <a:ext cx="1350050" cy="338554"/>
                    </a:xfrm>
                    <a:prstGeom prst="rect">
                      <a:avLst/>
                    </a:prstGeom>
                    <a:noFill/>
                  </p:spPr>
                  <p:txBody>
                    <a:bodyPr wrap="none" rtlCol="0">
                      <a:spAutoFit/>
                    </a:bodyPr>
                    <a:lstStyle/>
                    <a:p>
                      <a:pPr algn="ctr"/>
                      <a:r>
                        <a:rPr lang="en-US" sz="1600" dirty="0">
                          <a:solidFill>
                            <a:schemeClr val="tx1">
                              <a:lumMod val="75000"/>
                              <a:lumOff val="25000"/>
                            </a:schemeClr>
                          </a:solidFill>
                          <a:latin typeface="Century Gothic" panose="020B0502020202020204" pitchFamily="34" charset="0"/>
                        </a:rPr>
                        <a:t>Green River</a:t>
                      </a:r>
                    </a:p>
                  </p:txBody>
                </p:sp>
                <p:sp>
                  <p:nvSpPr>
                    <p:cNvPr id="117" name="TextBox 116">
                      <a:extLst>
                        <a:ext uri="{FF2B5EF4-FFF2-40B4-BE49-F238E27FC236}">
                          <a16:creationId xmlns:a16="http://schemas.microsoft.com/office/drawing/2014/main" id="{6EE09A60-1979-49A8-A24F-FBD0637595D3}"/>
                        </a:ext>
                      </a:extLst>
                    </p:cNvPr>
                    <p:cNvSpPr txBox="1"/>
                    <p:nvPr/>
                  </p:nvSpPr>
                  <p:spPr>
                    <a:xfrm>
                      <a:off x="14688193" y="15020774"/>
                      <a:ext cx="1261605" cy="337634"/>
                    </a:xfrm>
                    <a:prstGeom prst="rect">
                      <a:avLst/>
                    </a:prstGeom>
                    <a:noFill/>
                  </p:spPr>
                  <p:txBody>
                    <a:bodyPr wrap="square" rtlCol="0">
                      <a:spAutoFit/>
                    </a:bodyPr>
                    <a:lstStyle/>
                    <a:p>
                      <a:pPr algn="ctr"/>
                      <a:r>
                        <a:rPr lang="en-US" sz="1700" b="1" spc="600" dirty="0">
                          <a:solidFill>
                            <a:schemeClr val="bg1">
                              <a:lumMod val="65000"/>
                            </a:schemeClr>
                          </a:solidFill>
                          <a:latin typeface="Century Gothic" panose="020B0502020202020204" pitchFamily="34" charset="0"/>
                        </a:rPr>
                        <a:t>UTAH</a:t>
                      </a:r>
                    </a:p>
                  </p:txBody>
                </p:sp>
                <p:sp>
                  <p:nvSpPr>
                    <p:cNvPr id="118" name="TextBox 117">
                      <a:extLst>
                        <a:ext uri="{FF2B5EF4-FFF2-40B4-BE49-F238E27FC236}">
                          <a16:creationId xmlns:a16="http://schemas.microsoft.com/office/drawing/2014/main" id="{31DD150A-228D-448A-A51A-2777070386C0}"/>
                        </a:ext>
                      </a:extLst>
                    </p:cNvPr>
                    <p:cNvSpPr txBox="1"/>
                    <p:nvPr/>
                  </p:nvSpPr>
                  <p:spPr>
                    <a:xfrm>
                      <a:off x="18204075" y="15020774"/>
                      <a:ext cx="2306724" cy="337634"/>
                    </a:xfrm>
                    <a:prstGeom prst="rect">
                      <a:avLst/>
                    </a:prstGeom>
                    <a:noFill/>
                  </p:spPr>
                  <p:txBody>
                    <a:bodyPr wrap="square" rtlCol="0">
                      <a:spAutoFit/>
                    </a:bodyPr>
                    <a:lstStyle/>
                    <a:p>
                      <a:pPr algn="ctr"/>
                      <a:r>
                        <a:rPr lang="en-US" sz="1700" b="1" spc="600" dirty="0">
                          <a:solidFill>
                            <a:schemeClr val="bg1">
                              <a:lumMod val="65000"/>
                            </a:schemeClr>
                          </a:solidFill>
                          <a:latin typeface="Century Gothic" panose="020B0502020202020204" pitchFamily="34" charset="0"/>
                        </a:rPr>
                        <a:t>COLORADO</a:t>
                      </a:r>
                    </a:p>
                  </p:txBody>
                </p:sp>
                <p:sp>
                  <p:nvSpPr>
                    <p:cNvPr id="119" name="TextBox 118">
                      <a:extLst>
                        <a:ext uri="{FF2B5EF4-FFF2-40B4-BE49-F238E27FC236}">
                          <a16:creationId xmlns:a16="http://schemas.microsoft.com/office/drawing/2014/main" id="{B952E1DE-CE13-40A9-809B-A3642E58C39F}"/>
                        </a:ext>
                      </a:extLst>
                    </p:cNvPr>
                    <p:cNvSpPr txBox="1"/>
                    <p:nvPr/>
                  </p:nvSpPr>
                  <p:spPr>
                    <a:xfrm>
                      <a:off x="16150033" y="13191675"/>
                      <a:ext cx="1529675" cy="615553"/>
                    </a:xfrm>
                    <a:prstGeom prst="rect">
                      <a:avLst/>
                    </a:prstGeom>
                    <a:noFill/>
                  </p:spPr>
                  <p:txBody>
                    <a:bodyPr wrap="square" rtlCol="0">
                      <a:spAutoFit/>
                    </a:bodyPr>
                    <a:lstStyle/>
                    <a:p>
                      <a:pPr algn="ctr"/>
                      <a:r>
                        <a:rPr lang="en-US" sz="1700" i="1" dirty="0">
                          <a:solidFill>
                            <a:schemeClr val="tx1">
                              <a:lumMod val="75000"/>
                              <a:lumOff val="25000"/>
                            </a:schemeClr>
                          </a:solidFill>
                          <a:latin typeface="Century Gothic" panose="020B0502020202020204" pitchFamily="34" charset="0"/>
                        </a:rPr>
                        <a:t>Flaming</a:t>
                      </a:r>
                    </a:p>
                    <a:p>
                      <a:pPr algn="ctr"/>
                      <a:r>
                        <a:rPr lang="en-US" sz="1700" i="1" dirty="0">
                          <a:solidFill>
                            <a:schemeClr val="tx1">
                              <a:lumMod val="75000"/>
                              <a:lumOff val="25000"/>
                            </a:schemeClr>
                          </a:solidFill>
                          <a:latin typeface="Century Gothic" panose="020B0502020202020204" pitchFamily="34" charset="0"/>
                        </a:rPr>
                        <a:t>Gorge Dam</a:t>
                      </a:r>
                    </a:p>
                  </p:txBody>
                </p:sp>
                <p:sp>
                  <p:nvSpPr>
                    <p:cNvPr id="120" name="TextBox 119">
                      <a:extLst>
                        <a:ext uri="{FF2B5EF4-FFF2-40B4-BE49-F238E27FC236}">
                          <a16:creationId xmlns:a16="http://schemas.microsoft.com/office/drawing/2014/main" id="{F35B41BD-A2C3-4F8C-A6BA-A067E2D26EAF}"/>
                        </a:ext>
                      </a:extLst>
                    </p:cNvPr>
                    <p:cNvSpPr txBox="1"/>
                    <p:nvPr/>
                  </p:nvSpPr>
                  <p:spPr>
                    <a:xfrm>
                      <a:off x="17970187" y="13258705"/>
                      <a:ext cx="1691552" cy="615553"/>
                    </a:xfrm>
                    <a:prstGeom prst="rect">
                      <a:avLst/>
                    </a:prstGeom>
                    <a:noFill/>
                  </p:spPr>
                  <p:txBody>
                    <a:bodyPr wrap="square" rtlCol="0">
                      <a:spAutoFit/>
                    </a:bodyPr>
                    <a:lstStyle/>
                    <a:p>
                      <a:pPr algn="ctr"/>
                      <a:r>
                        <a:rPr lang="en-US" sz="1700" b="1" dirty="0">
                          <a:solidFill>
                            <a:schemeClr val="accent6">
                              <a:lumMod val="50000"/>
                            </a:schemeClr>
                          </a:solidFill>
                          <a:latin typeface="Century Gothic" panose="020B0502020202020204" pitchFamily="34" charset="0"/>
                        </a:rPr>
                        <a:t>Dinosaur Nat’l</a:t>
                      </a:r>
                    </a:p>
                    <a:p>
                      <a:pPr algn="ctr"/>
                      <a:r>
                        <a:rPr lang="en-US" sz="1700" b="1" dirty="0">
                          <a:solidFill>
                            <a:schemeClr val="accent6">
                              <a:lumMod val="50000"/>
                            </a:schemeClr>
                          </a:solidFill>
                          <a:latin typeface="Century Gothic" panose="020B0502020202020204" pitchFamily="34" charset="0"/>
                        </a:rPr>
                        <a:t>Monument</a:t>
                      </a:r>
                    </a:p>
                  </p:txBody>
                </p:sp>
                <p:sp>
                  <p:nvSpPr>
                    <p:cNvPr id="121" name="TextBox 120">
                      <a:extLst>
                        <a:ext uri="{FF2B5EF4-FFF2-40B4-BE49-F238E27FC236}">
                          <a16:creationId xmlns:a16="http://schemas.microsoft.com/office/drawing/2014/main" id="{A67CF8E1-7603-4A7D-81CC-3EB0D4D16B40}"/>
                        </a:ext>
                      </a:extLst>
                    </p:cNvPr>
                    <p:cNvSpPr txBox="1"/>
                    <p:nvPr/>
                  </p:nvSpPr>
                  <p:spPr>
                    <a:xfrm>
                      <a:off x="14854497" y="17376671"/>
                      <a:ext cx="1968227" cy="615553"/>
                    </a:xfrm>
                    <a:prstGeom prst="rect">
                      <a:avLst/>
                    </a:prstGeom>
                    <a:noFill/>
                  </p:spPr>
                  <p:txBody>
                    <a:bodyPr wrap="square" rtlCol="0">
                      <a:spAutoFit/>
                    </a:bodyPr>
                    <a:lstStyle/>
                    <a:p>
                      <a:pPr algn="ctr"/>
                      <a:r>
                        <a:rPr lang="en-US" sz="1700" b="1" dirty="0">
                          <a:solidFill>
                            <a:schemeClr val="accent6">
                              <a:lumMod val="50000"/>
                            </a:schemeClr>
                          </a:solidFill>
                          <a:latin typeface="Century Gothic" panose="020B0502020202020204" pitchFamily="34" charset="0"/>
                        </a:rPr>
                        <a:t>Canyonlands Nat’l Park</a:t>
                      </a:r>
                    </a:p>
                  </p:txBody>
                </p:sp>
                <p:sp>
                  <p:nvSpPr>
                    <p:cNvPr id="208" name="TextBox 207">
                      <a:extLst>
                        <a:ext uri="{FF2B5EF4-FFF2-40B4-BE49-F238E27FC236}">
                          <a16:creationId xmlns:a16="http://schemas.microsoft.com/office/drawing/2014/main" id="{D3B666B9-647C-45E6-BA8B-DDE211F74E4F}"/>
                        </a:ext>
                      </a:extLst>
                    </p:cNvPr>
                    <p:cNvSpPr txBox="1"/>
                    <p:nvPr/>
                  </p:nvSpPr>
                  <p:spPr>
                    <a:xfrm>
                      <a:off x="15833449" y="14447693"/>
                      <a:ext cx="986372" cy="615553"/>
                    </a:xfrm>
                    <a:prstGeom prst="rect">
                      <a:avLst/>
                    </a:prstGeom>
                    <a:noFill/>
                  </p:spPr>
                  <p:txBody>
                    <a:bodyPr wrap="square" rtlCol="0">
                      <a:spAutoFit/>
                    </a:bodyPr>
                    <a:lstStyle/>
                    <a:p>
                      <a:pPr algn="ctr"/>
                      <a:r>
                        <a:rPr lang="en-US" sz="1700" i="1" dirty="0">
                          <a:solidFill>
                            <a:schemeClr val="tx1">
                              <a:lumMod val="75000"/>
                              <a:lumOff val="25000"/>
                            </a:schemeClr>
                          </a:solidFill>
                          <a:latin typeface="Century Gothic" panose="020B0502020202020204" pitchFamily="34" charset="0"/>
                        </a:rPr>
                        <a:t>Snider</a:t>
                      </a:r>
                    </a:p>
                    <a:p>
                      <a:pPr algn="ctr"/>
                      <a:r>
                        <a:rPr lang="en-US" sz="1700" i="1" dirty="0">
                          <a:solidFill>
                            <a:schemeClr val="tx1">
                              <a:lumMod val="75000"/>
                              <a:lumOff val="25000"/>
                            </a:schemeClr>
                          </a:solidFill>
                          <a:latin typeface="Century Gothic" panose="020B0502020202020204" pitchFamily="34" charset="0"/>
                        </a:rPr>
                        <a:t>Bottom</a:t>
                      </a:r>
                    </a:p>
                  </p:txBody>
                </p:sp>
              </p:grpSp>
              <p:grpSp>
                <p:nvGrpSpPr>
                  <p:cNvPr id="80" name="Group 79">
                    <a:extLst>
                      <a:ext uri="{FF2B5EF4-FFF2-40B4-BE49-F238E27FC236}">
                        <a16:creationId xmlns:a16="http://schemas.microsoft.com/office/drawing/2014/main" id="{200E2C37-9362-45D9-AF34-4663D368A056}"/>
                      </a:ext>
                    </a:extLst>
                  </p:cNvPr>
                  <p:cNvGrpSpPr/>
                  <p:nvPr/>
                </p:nvGrpSpPr>
                <p:grpSpPr>
                  <a:xfrm>
                    <a:off x="20965034" y="15584423"/>
                    <a:ext cx="2651760" cy="2651760"/>
                    <a:chOff x="23762068" y="15735391"/>
                    <a:chExt cx="2651760" cy="2651760"/>
                  </a:xfrm>
                </p:grpSpPr>
                <p:pic>
                  <p:nvPicPr>
                    <p:cNvPr id="66" name="Picture 65" descr="A close up of text on a white background&#10;&#10;Description generated with high confidence">
                      <a:extLst>
                        <a:ext uri="{FF2B5EF4-FFF2-40B4-BE49-F238E27FC236}">
                          <a16:creationId xmlns:a16="http://schemas.microsoft.com/office/drawing/2014/main" id="{4FA1E12A-FC6A-4CD0-BBB5-4F81AC5B0C2E}"/>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3762068" y="15735391"/>
                      <a:ext cx="2651760" cy="2651760"/>
                    </a:xfrm>
                    <a:prstGeom prst="rect">
                      <a:avLst/>
                    </a:prstGeom>
                  </p:spPr>
                </p:pic>
                <p:sp>
                  <p:nvSpPr>
                    <p:cNvPr id="105" name="TextBox 104">
                      <a:extLst>
                        <a:ext uri="{FF2B5EF4-FFF2-40B4-BE49-F238E27FC236}">
                          <a16:creationId xmlns:a16="http://schemas.microsoft.com/office/drawing/2014/main" id="{50504DB7-6CB9-4D67-9703-095BE8334AB2}"/>
                        </a:ext>
                      </a:extLst>
                    </p:cNvPr>
                    <p:cNvSpPr txBox="1"/>
                    <p:nvPr/>
                  </p:nvSpPr>
                  <p:spPr>
                    <a:xfrm>
                      <a:off x="24562047" y="16273131"/>
                      <a:ext cx="1633297" cy="338554"/>
                    </a:xfrm>
                    <a:prstGeom prst="rect">
                      <a:avLst/>
                    </a:prstGeom>
                    <a:noFill/>
                    <a:ln>
                      <a:noFill/>
                    </a:ln>
                  </p:spPr>
                  <p:txBody>
                    <a:bodyPr wrap="square" rtlCol="0">
                      <a:spAutoFit/>
                    </a:bodyPr>
                    <a:lstStyle/>
                    <a:p>
                      <a:r>
                        <a:rPr lang="en-US" sz="1600" b="1" dirty="0">
                          <a:ln w="1270">
                            <a:noFill/>
                          </a:ln>
                          <a:solidFill>
                            <a:srgbClr val="E54C00"/>
                          </a:solidFill>
                          <a:latin typeface="+mj-lt"/>
                        </a:rPr>
                        <a:t>Area Enlarged</a:t>
                      </a:r>
                      <a:endParaRPr lang="en-US" sz="1600" b="1" dirty="0">
                        <a:ln w="1270">
                          <a:noFill/>
                        </a:ln>
                        <a:latin typeface="+mj-lt"/>
                      </a:endParaRPr>
                    </a:p>
                  </p:txBody>
                </p:sp>
              </p:grpSp>
            </p:grpSp>
          </p:grpSp>
        </p:grpSp>
      </p:grpSp>
      <p:grpSp>
        <p:nvGrpSpPr>
          <p:cNvPr id="271" name="Group 270">
            <a:extLst>
              <a:ext uri="{FF2B5EF4-FFF2-40B4-BE49-F238E27FC236}">
                <a16:creationId xmlns:a16="http://schemas.microsoft.com/office/drawing/2014/main" id="{6947B236-08EE-4835-BCD6-2C4CF62D9B04}"/>
              </a:ext>
            </a:extLst>
          </p:cNvPr>
          <p:cNvGrpSpPr/>
          <p:nvPr/>
        </p:nvGrpSpPr>
        <p:grpSpPr>
          <a:xfrm>
            <a:off x="2363361" y="25721631"/>
            <a:ext cx="3683961" cy="431143"/>
            <a:chOff x="1898257" y="25716942"/>
            <a:chExt cx="3683961" cy="435508"/>
          </a:xfrm>
        </p:grpSpPr>
        <p:grpSp>
          <p:nvGrpSpPr>
            <p:cNvPr id="269" name="Group 268">
              <a:extLst>
                <a:ext uri="{FF2B5EF4-FFF2-40B4-BE49-F238E27FC236}">
                  <a16:creationId xmlns:a16="http://schemas.microsoft.com/office/drawing/2014/main" id="{C224C99E-59CF-4D8F-A594-ACBB7729B5C5}"/>
                </a:ext>
              </a:extLst>
            </p:cNvPr>
            <p:cNvGrpSpPr/>
            <p:nvPr/>
          </p:nvGrpSpPr>
          <p:grpSpPr>
            <a:xfrm>
              <a:off x="1898257" y="25717062"/>
              <a:ext cx="2246377" cy="435388"/>
              <a:chOff x="4638147" y="25366183"/>
              <a:chExt cx="2246377" cy="435388"/>
            </a:xfrm>
          </p:grpSpPr>
          <p:pic>
            <p:nvPicPr>
              <p:cNvPr id="200" name="Picture 199">
                <a:extLst>
                  <a:ext uri="{FF2B5EF4-FFF2-40B4-BE49-F238E27FC236}">
                    <a16:creationId xmlns:a16="http://schemas.microsoft.com/office/drawing/2014/main" id="{493ACA51-9323-42F1-9340-75DAF409C116}"/>
                  </a:ext>
                </a:extLst>
              </p:cNvPr>
              <p:cNvPicPr>
                <a:picLocks noChangeAspect="1"/>
              </p:cNvPicPr>
              <p:nvPr/>
            </p:nvPicPr>
            <p:blipFill rotWithShape="1">
              <a:blip r:embed="rId19">
                <a:extLst>
                  <a:ext uri="{28A0092B-C50C-407E-A947-70E740481C1C}">
                    <a14:useLocalDpi xmlns:a14="http://schemas.microsoft.com/office/drawing/2010/main" val="0"/>
                  </a:ext>
                </a:extLst>
              </a:blip>
              <a:srcRect l="29547" t="44469" r="57211" b="46216"/>
              <a:stretch/>
            </p:blipFill>
            <p:spPr>
              <a:xfrm>
                <a:off x="4638147" y="25366183"/>
                <a:ext cx="734046" cy="435388"/>
              </a:xfrm>
              <a:prstGeom prst="rect">
                <a:avLst/>
              </a:prstGeom>
            </p:spPr>
          </p:pic>
          <p:sp>
            <p:nvSpPr>
              <p:cNvPr id="202" name="TextBox 201">
                <a:extLst>
                  <a:ext uri="{FF2B5EF4-FFF2-40B4-BE49-F238E27FC236}">
                    <a16:creationId xmlns:a16="http://schemas.microsoft.com/office/drawing/2014/main" id="{B79D8822-71EE-443A-B8DF-7273D31C7807}"/>
                  </a:ext>
                </a:extLst>
              </p:cNvPr>
              <p:cNvSpPr txBox="1"/>
              <p:nvPr/>
            </p:nvSpPr>
            <p:spPr>
              <a:xfrm>
                <a:off x="5338746" y="25414481"/>
                <a:ext cx="1545778" cy="338554"/>
              </a:xfrm>
              <a:prstGeom prst="rect">
                <a:avLst/>
              </a:prstGeom>
            </p:spPr>
            <p:txBody>
              <a:bodyPr wrap="square" numCol="1" spcCol="640080" rtlCol="0" anchor="ctr">
                <a:spAutoFit/>
              </a:bodyPr>
              <a:lstStyle/>
              <a:p>
                <a:r>
                  <a:rPr lang="en-US" sz="1600" dirty="0">
                    <a:solidFill>
                      <a:schemeClr val="tx1">
                        <a:lumMod val="75000"/>
                        <a:lumOff val="25000"/>
                      </a:schemeClr>
                    </a:solidFill>
                    <a:latin typeface="+mj-lt"/>
                  </a:rPr>
                  <a:t>Vegetation</a:t>
                </a:r>
              </a:p>
            </p:txBody>
          </p:sp>
        </p:grpSp>
        <p:grpSp>
          <p:nvGrpSpPr>
            <p:cNvPr id="270" name="Group 269">
              <a:extLst>
                <a:ext uri="{FF2B5EF4-FFF2-40B4-BE49-F238E27FC236}">
                  <a16:creationId xmlns:a16="http://schemas.microsoft.com/office/drawing/2014/main" id="{8F483AC0-09A1-4D46-B035-2F89E112D086}"/>
                </a:ext>
              </a:extLst>
            </p:cNvPr>
            <p:cNvGrpSpPr/>
            <p:nvPr/>
          </p:nvGrpSpPr>
          <p:grpSpPr>
            <a:xfrm>
              <a:off x="4104029" y="25716942"/>
              <a:ext cx="1478189" cy="435388"/>
              <a:chOff x="4641300" y="25904977"/>
              <a:chExt cx="1478189" cy="435388"/>
            </a:xfrm>
          </p:grpSpPr>
          <p:pic>
            <p:nvPicPr>
              <p:cNvPr id="201" name="Picture 200">
                <a:extLst>
                  <a:ext uri="{FF2B5EF4-FFF2-40B4-BE49-F238E27FC236}">
                    <a16:creationId xmlns:a16="http://schemas.microsoft.com/office/drawing/2014/main" id="{2EF783BB-063D-49E3-B04A-B0D53AF92884}"/>
                  </a:ext>
                </a:extLst>
              </p:cNvPr>
              <p:cNvPicPr>
                <a:picLocks noChangeAspect="1"/>
              </p:cNvPicPr>
              <p:nvPr/>
            </p:nvPicPr>
            <p:blipFill rotWithShape="1">
              <a:blip r:embed="rId20" cstate="email">
                <a:extLst>
                  <a:ext uri="{28A0092B-C50C-407E-A947-70E740481C1C}">
                    <a14:useLocalDpi xmlns:a14="http://schemas.microsoft.com/office/drawing/2010/main"/>
                  </a:ext>
                </a:extLst>
              </a:blip>
              <a:srcRect/>
              <a:stretch/>
            </p:blipFill>
            <p:spPr>
              <a:xfrm>
                <a:off x="4641300" y="25904977"/>
                <a:ext cx="734046" cy="435388"/>
              </a:xfrm>
              <a:prstGeom prst="rect">
                <a:avLst/>
              </a:prstGeom>
            </p:spPr>
          </p:pic>
          <p:sp>
            <p:nvSpPr>
              <p:cNvPr id="203" name="TextBox 202">
                <a:extLst>
                  <a:ext uri="{FF2B5EF4-FFF2-40B4-BE49-F238E27FC236}">
                    <a16:creationId xmlns:a16="http://schemas.microsoft.com/office/drawing/2014/main" id="{7D68F886-6C45-4853-ACB0-80662D8FE0A8}"/>
                  </a:ext>
                </a:extLst>
              </p:cNvPr>
              <p:cNvSpPr txBox="1"/>
              <p:nvPr/>
            </p:nvSpPr>
            <p:spPr>
              <a:xfrm>
                <a:off x="5333696" y="25953444"/>
                <a:ext cx="785793" cy="338554"/>
              </a:xfrm>
              <a:prstGeom prst="rect">
                <a:avLst/>
              </a:prstGeom>
            </p:spPr>
            <p:txBody>
              <a:bodyPr wrap="none" numCol="1" spcCol="640080" rtlCol="0" anchor="ctr">
                <a:spAutoFit/>
              </a:bodyPr>
              <a:lstStyle/>
              <a:p>
                <a:r>
                  <a:rPr lang="en-US" sz="1600" dirty="0">
                    <a:solidFill>
                      <a:schemeClr val="tx1">
                        <a:lumMod val="75000"/>
                        <a:lumOff val="25000"/>
                      </a:schemeClr>
                    </a:solidFill>
                    <a:latin typeface="+mj-lt"/>
                  </a:rPr>
                  <a:t>Water</a:t>
                </a:r>
              </a:p>
            </p:txBody>
          </p:sp>
        </p:grpSp>
      </p:grpSp>
      <p:graphicFrame>
        <p:nvGraphicFramePr>
          <p:cNvPr id="256" name="Chart 255">
            <a:extLst>
              <a:ext uri="{FF2B5EF4-FFF2-40B4-BE49-F238E27FC236}">
                <a16:creationId xmlns:a16="http://schemas.microsoft.com/office/drawing/2014/main" id="{28F76DE8-4187-44F6-B5DB-1C61817B661C}"/>
              </a:ext>
            </a:extLst>
          </p:cNvPr>
          <p:cNvGraphicFramePr>
            <a:graphicFrameLocks/>
          </p:cNvGraphicFramePr>
          <p:nvPr>
            <p:extLst>
              <p:ext uri="{D42A27DB-BD31-4B8C-83A1-F6EECF244321}">
                <p14:modId xmlns:p14="http://schemas.microsoft.com/office/powerpoint/2010/main" val="3421074639"/>
              </p:ext>
            </p:extLst>
          </p:nvPr>
        </p:nvGraphicFramePr>
        <p:xfrm>
          <a:off x="1375965" y="22901581"/>
          <a:ext cx="5658753" cy="2642763"/>
        </p:xfrm>
        <a:graphic>
          <a:graphicData uri="http://schemas.openxmlformats.org/drawingml/2006/chart">
            <c:chart xmlns:c="http://schemas.openxmlformats.org/drawingml/2006/chart" xmlns:r="http://schemas.openxmlformats.org/officeDocument/2006/relationships" r:id="rId21"/>
          </a:graphicData>
        </a:graphic>
      </p:graphicFrame>
      <p:grpSp>
        <p:nvGrpSpPr>
          <p:cNvPr id="226" name="Group 225">
            <a:extLst>
              <a:ext uri="{FF2B5EF4-FFF2-40B4-BE49-F238E27FC236}">
                <a16:creationId xmlns:a16="http://schemas.microsoft.com/office/drawing/2014/main" id="{3A20114C-8C6D-43CE-A0CD-7E4B6C1142A2}"/>
              </a:ext>
            </a:extLst>
          </p:cNvPr>
          <p:cNvGrpSpPr/>
          <p:nvPr/>
        </p:nvGrpSpPr>
        <p:grpSpPr>
          <a:xfrm>
            <a:off x="1172697" y="19269651"/>
            <a:ext cx="6065289" cy="3479646"/>
            <a:chOff x="1184127" y="19369813"/>
            <a:chExt cx="6065289" cy="3479646"/>
          </a:xfrm>
        </p:grpSpPr>
        <p:sp>
          <p:nvSpPr>
            <p:cNvPr id="199" name="TextBox 198">
              <a:extLst>
                <a:ext uri="{FF2B5EF4-FFF2-40B4-BE49-F238E27FC236}">
                  <a16:creationId xmlns:a16="http://schemas.microsoft.com/office/drawing/2014/main" id="{1B18A851-D0D1-403F-9E60-7D4663CA0EC0}"/>
                </a:ext>
              </a:extLst>
            </p:cNvPr>
            <p:cNvSpPr txBox="1"/>
            <p:nvPr/>
          </p:nvSpPr>
          <p:spPr>
            <a:xfrm>
              <a:off x="1611731" y="19369813"/>
              <a:ext cx="5210081" cy="457037"/>
            </a:xfrm>
            <a:prstGeom prst="rect">
              <a:avLst/>
            </a:prstGeom>
          </p:spPr>
          <p:txBody>
            <a:bodyPr wrap="none" numCol="1" spcCol="640080" rtlCol="0">
              <a:spAutoFit/>
            </a:bodyPr>
            <a:lstStyle/>
            <a:p>
              <a:r>
                <a:rPr lang="en-US" sz="2400" b="1" dirty="0">
                  <a:solidFill>
                    <a:schemeClr val="tx1">
                      <a:lumMod val="75000"/>
                      <a:lumOff val="25000"/>
                    </a:schemeClr>
                  </a:solidFill>
                  <a:latin typeface="+mj-lt"/>
                </a:rPr>
                <a:t>Snider Bottom Landcover Change</a:t>
              </a:r>
            </a:p>
          </p:txBody>
        </p:sp>
        <p:grpSp>
          <p:nvGrpSpPr>
            <p:cNvPr id="272" name="Group 271">
              <a:extLst>
                <a:ext uri="{FF2B5EF4-FFF2-40B4-BE49-F238E27FC236}">
                  <a16:creationId xmlns:a16="http://schemas.microsoft.com/office/drawing/2014/main" id="{91F1714F-04AB-4AA7-9673-15D73265D61B}"/>
                </a:ext>
              </a:extLst>
            </p:cNvPr>
            <p:cNvGrpSpPr/>
            <p:nvPr/>
          </p:nvGrpSpPr>
          <p:grpSpPr>
            <a:xfrm>
              <a:off x="1184127" y="19862189"/>
              <a:ext cx="6065289" cy="2987270"/>
              <a:chOff x="1184127" y="19625145"/>
              <a:chExt cx="6065289" cy="3017520"/>
            </a:xfrm>
          </p:grpSpPr>
          <p:grpSp>
            <p:nvGrpSpPr>
              <p:cNvPr id="266" name="Group 265">
                <a:extLst>
                  <a:ext uri="{FF2B5EF4-FFF2-40B4-BE49-F238E27FC236}">
                    <a16:creationId xmlns:a16="http://schemas.microsoft.com/office/drawing/2014/main" id="{A1CEB46F-9109-414B-89E7-EEAB83C92642}"/>
                  </a:ext>
                </a:extLst>
              </p:cNvPr>
              <p:cNvGrpSpPr/>
              <p:nvPr/>
            </p:nvGrpSpPr>
            <p:grpSpPr>
              <a:xfrm>
                <a:off x="1184127" y="19625145"/>
                <a:ext cx="3017520" cy="3017520"/>
                <a:chOff x="1184127" y="19624669"/>
                <a:chExt cx="3017520" cy="3017520"/>
              </a:xfrm>
            </p:grpSpPr>
            <p:pic>
              <p:nvPicPr>
                <p:cNvPr id="47" name="Picture 46" descr="A close up of a map&#10;&#10;Description generated with high confidence">
                  <a:extLst>
                    <a:ext uri="{FF2B5EF4-FFF2-40B4-BE49-F238E27FC236}">
                      <a16:creationId xmlns:a16="http://schemas.microsoft.com/office/drawing/2014/main" id="{04A43E22-AFE9-4ED8-8C62-98B147153C77}"/>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1184127" y="19624669"/>
                  <a:ext cx="3017520" cy="3017520"/>
                </a:xfrm>
                <a:prstGeom prst="rect">
                  <a:avLst/>
                </a:prstGeom>
              </p:spPr>
            </p:pic>
            <p:sp>
              <p:nvSpPr>
                <p:cNvPr id="290" name="TextBox 289">
                  <a:extLst>
                    <a:ext uri="{FF2B5EF4-FFF2-40B4-BE49-F238E27FC236}">
                      <a16:creationId xmlns:a16="http://schemas.microsoft.com/office/drawing/2014/main" id="{5B7FB829-3132-4348-B642-4BDF9F2DB475}"/>
                    </a:ext>
                  </a:extLst>
                </p:cNvPr>
                <p:cNvSpPr txBox="1"/>
                <p:nvPr/>
              </p:nvSpPr>
              <p:spPr>
                <a:xfrm>
                  <a:off x="1298183" y="19739027"/>
                  <a:ext cx="646331" cy="338554"/>
                </a:xfrm>
                <a:prstGeom prst="rect">
                  <a:avLst/>
                </a:prstGeom>
              </p:spPr>
              <p:txBody>
                <a:bodyPr wrap="none" numCol="1" spcCol="640080" rtlCol="0">
                  <a:spAutoFit/>
                </a:bodyPr>
                <a:lstStyle/>
                <a:p>
                  <a:r>
                    <a:rPr lang="en-US" sz="1600" b="1" dirty="0">
                      <a:solidFill>
                        <a:schemeClr val="tx1">
                          <a:lumMod val="75000"/>
                          <a:lumOff val="25000"/>
                        </a:schemeClr>
                      </a:solidFill>
                      <a:latin typeface="+mj-lt"/>
                    </a:rPr>
                    <a:t>1984</a:t>
                  </a:r>
                </a:p>
              </p:txBody>
            </p:sp>
          </p:grpSp>
          <p:grpSp>
            <p:nvGrpSpPr>
              <p:cNvPr id="265" name="Group 264">
                <a:extLst>
                  <a:ext uri="{FF2B5EF4-FFF2-40B4-BE49-F238E27FC236}">
                    <a16:creationId xmlns:a16="http://schemas.microsoft.com/office/drawing/2014/main" id="{C5622B18-5A07-4179-82DD-30C22D291A75}"/>
                  </a:ext>
                </a:extLst>
              </p:cNvPr>
              <p:cNvGrpSpPr/>
              <p:nvPr/>
            </p:nvGrpSpPr>
            <p:grpSpPr>
              <a:xfrm>
                <a:off x="4231896" y="19625145"/>
                <a:ext cx="3017520" cy="3017520"/>
                <a:chOff x="4231896" y="19625622"/>
                <a:chExt cx="3017520" cy="3017520"/>
              </a:xfrm>
            </p:grpSpPr>
            <p:pic>
              <p:nvPicPr>
                <p:cNvPr id="50" name="Picture 49" descr="A close up of a map&#10;&#10;Description generated with high confidence">
                  <a:extLst>
                    <a:ext uri="{FF2B5EF4-FFF2-40B4-BE49-F238E27FC236}">
                      <a16:creationId xmlns:a16="http://schemas.microsoft.com/office/drawing/2014/main" id="{64938DF9-C10B-45C5-B076-3B1C1FEA7DCC}"/>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4231896" y="19625622"/>
                  <a:ext cx="3017520" cy="3017520"/>
                </a:xfrm>
                <a:prstGeom prst="rect">
                  <a:avLst/>
                </a:prstGeom>
              </p:spPr>
            </p:pic>
            <p:sp>
              <p:nvSpPr>
                <p:cNvPr id="291" name="TextBox 290">
                  <a:extLst>
                    <a:ext uri="{FF2B5EF4-FFF2-40B4-BE49-F238E27FC236}">
                      <a16:creationId xmlns:a16="http://schemas.microsoft.com/office/drawing/2014/main" id="{A79EA154-60C1-43C6-857C-E2F9AFD794BC}"/>
                    </a:ext>
                  </a:extLst>
                </p:cNvPr>
                <p:cNvSpPr txBox="1"/>
                <p:nvPr/>
              </p:nvSpPr>
              <p:spPr>
                <a:xfrm>
                  <a:off x="4347286" y="19739848"/>
                  <a:ext cx="646331" cy="338554"/>
                </a:xfrm>
                <a:prstGeom prst="rect">
                  <a:avLst/>
                </a:prstGeom>
              </p:spPr>
              <p:txBody>
                <a:bodyPr wrap="none" numCol="1" spcCol="640080" rtlCol="0">
                  <a:spAutoFit/>
                </a:bodyPr>
                <a:lstStyle/>
                <a:p>
                  <a:r>
                    <a:rPr lang="en-US" sz="1600" b="1" dirty="0">
                      <a:solidFill>
                        <a:schemeClr val="tx1">
                          <a:lumMod val="75000"/>
                          <a:lumOff val="25000"/>
                        </a:schemeClr>
                      </a:solidFill>
                      <a:latin typeface="+mj-lt"/>
                    </a:rPr>
                    <a:t>2017</a:t>
                  </a:r>
                </a:p>
              </p:txBody>
            </p:sp>
          </p:grpSp>
        </p:grpSp>
      </p:grpSp>
      <p:grpSp>
        <p:nvGrpSpPr>
          <p:cNvPr id="229" name="Group 228">
            <a:extLst>
              <a:ext uri="{FF2B5EF4-FFF2-40B4-BE49-F238E27FC236}">
                <a16:creationId xmlns:a16="http://schemas.microsoft.com/office/drawing/2014/main" id="{6B540AE5-E4B1-465F-8219-AEAEC19BC0BE}"/>
              </a:ext>
            </a:extLst>
          </p:cNvPr>
          <p:cNvGrpSpPr/>
          <p:nvPr/>
        </p:nvGrpSpPr>
        <p:grpSpPr>
          <a:xfrm>
            <a:off x="14573865" y="22861808"/>
            <a:ext cx="4572000" cy="3144674"/>
            <a:chOff x="14942797" y="22961182"/>
            <a:chExt cx="4572000" cy="3206986"/>
          </a:xfrm>
        </p:grpSpPr>
        <p:sp>
          <p:nvSpPr>
            <p:cNvPr id="268" name="TextBox 267">
              <a:extLst>
                <a:ext uri="{FF2B5EF4-FFF2-40B4-BE49-F238E27FC236}">
                  <a16:creationId xmlns:a16="http://schemas.microsoft.com/office/drawing/2014/main" id="{13AEBE1F-8EBD-42C1-8543-B141C6DDCFC5}"/>
                </a:ext>
              </a:extLst>
            </p:cNvPr>
            <p:cNvSpPr txBox="1"/>
            <p:nvPr/>
          </p:nvSpPr>
          <p:spPr>
            <a:xfrm>
              <a:off x="14942797" y="22961182"/>
              <a:ext cx="1340916" cy="461665"/>
            </a:xfrm>
            <a:prstGeom prst="rect">
              <a:avLst/>
            </a:prstGeom>
            <a:noFill/>
            <a:ln>
              <a:noFill/>
            </a:ln>
            <a:effectLst/>
          </p:spPr>
          <p:txBody>
            <a:bodyPr wrap="square" numCol="1" spcCol="640080" rtlCol="0">
              <a:spAutoFit/>
            </a:bodyPr>
            <a:lstStyle/>
            <a:p>
              <a:pPr algn="ctr"/>
              <a:r>
                <a:rPr lang="en-US" sz="2400" b="1" i="1" dirty="0">
                  <a:solidFill>
                    <a:schemeClr val="tx1">
                      <a:lumMod val="75000"/>
                      <a:lumOff val="25000"/>
                    </a:schemeClr>
                  </a:solidFill>
                  <a:latin typeface="+mj-lt"/>
                </a:rPr>
                <a:t>MNDWI</a:t>
              </a:r>
            </a:p>
          </p:txBody>
        </p:sp>
        <p:pic>
          <p:nvPicPr>
            <p:cNvPr id="283" name="Picture 282">
              <a:extLst>
                <a:ext uri="{FF2B5EF4-FFF2-40B4-BE49-F238E27FC236}">
                  <a16:creationId xmlns:a16="http://schemas.microsoft.com/office/drawing/2014/main" id="{A32B53FD-8E09-40A5-A397-39AF673B2505}"/>
                </a:ext>
              </a:extLst>
            </p:cNvPr>
            <p:cNvPicPr>
              <a:picLocks/>
            </p:cNvPicPr>
            <p:nvPr/>
          </p:nvPicPr>
          <p:blipFill rotWithShape="1">
            <a:blip r:embed="rId24" cstate="screen">
              <a:extLst>
                <a:ext uri="{28A0092B-C50C-407E-A947-70E740481C1C}">
                  <a14:useLocalDpi xmlns:a14="http://schemas.microsoft.com/office/drawing/2010/main"/>
                </a:ext>
              </a:extLst>
            </a:blip>
            <a:srcRect/>
            <a:stretch/>
          </p:blipFill>
          <p:spPr>
            <a:xfrm rot="5400000">
              <a:off x="15857197" y="22510568"/>
              <a:ext cx="2743200" cy="4572000"/>
            </a:xfrm>
            <a:prstGeom prst="rect">
              <a:avLst/>
            </a:prstGeom>
          </p:spPr>
        </p:pic>
        <p:cxnSp>
          <p:nvCxnSpPr>
            <p:cNvPr id="284" name="Straight Connector 283">
              <a:extLst>
                <a:ext uri="{FF2B5EF4-FFF2-40B4-BE49-F238E27FC236}">
                  <a16:creationId xmlns:a16="http://schemas.microsoft.com/office/drawing/2014/main" id="{8C64522A-7950-4446-A414-2A1348897272}"/>
                </a:ext>
              </a:extLst>
            </p:cNvPr>
            <p:cNvCxnSpPr>
              <a:cxnSpLocks/>
            </p:cNvCxnSpPr>
            <p:nvPr/>
          </p:nvCxnSpPr>
          <p:spPr>
            <a:xfrm>
              <a:off x="15246008" y="24080791"/>
              <a:ext cx="4222732" cy="1119674"/>
            </a:xfrm>
            <a:prstGeom prst="line">
              <a:avLst/>
            </a:prstGeom>
            <a:ln w="57150" cmpd="sng">
              <a:solidFill>
                <a:srgbClr val="09315C">
                  <a:alpha val="90000"/>
                </a:srgbClr>
              </a:solidFill>
              <a:prstDash val="solid"/>
            </a:ln>
            <a:effectLst>
              <a:softEdge rad="0"/>
            </a:effectLst>
          </p:spPr>
          <p:style>
            <a:lnRef idx="1">
              <a:schemeClr val="accent1"/>
            </a:lnRef>
            <a:fillRef idx="0">
              <a:schemeClr val="accent1"/>
            </a:fillRef>
            <a:effectRef idx="0">
              <a:schemeClr val="accent1"/>
            </a:effectRef>
            <a:fontRef idx="minor">
              <a:schemeClr val="tx1"/>
            </a:fontRef>
          </p:style>
        </p:cxnSp>
        <p:sp>
          <p:nvSpPr>
            <p:cNvPr id="285" name="Rectangle 284">
              <a:extLst>
                <a:ext uri="{FF2B5EF4-FFF2-40B4-BE49-F238E27FC236}">
                  <a16:creationId xmlns:a16="http://schemas.microsoft.com/office/drawing/2014/main" id="{1184D60B-FF35-49DB-8D43-ADACDA51916C}"/>
                </a:ext>
              </a:extLst>
            </p:cNvPr>
            <p:cNvSpPr/>
            <p:nvPr/>
          </p:nvSpPr>
          <p:spPr>
            <a:xfrm>
              <a:off x="15242422" y="23536430"/>
              <a:ext cx="4226318" cy="243323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0" name="Group 229">
            <a:extLst>
              <a:ext uri="{FF2B5EF4-FFF2-40B4-BE49-F238E27FC236}">
                <a16:creationId xmlns:a16="http://schemas.microsoft.com/office/drawing/2014/main" id="{DC206549-8841-4E0A-A3E7-DC19F7D2D26A}"/>
              </a:ext>
            </a:extLst>
          </p:cNvPr>
          <p:cNvGrpSpPr/>
          <p:nvPr/>
        </p:nvGrpSpPr>
        <p:grpSpPr>
          <a:xfrm>
            <a:off x="14573865" y="19730051"/>
            <a:ext cx="4572000" cy="3146286"/>
            <a:chOff x="14809696" y="19410131"/>
            <a:chExt cx="4572000" cy="3208630"/>
          </a:xfrm>
        </p:grpSpPr>
        <p:sp>
          <p:nvSpPr>
            <p:cNvPr id="261" name="TextBox 260">
              <a:extLst>
                <a:ext uri="{FF2B5EF4-FFF2-40B4-BE49-F238E27FC236}">
                  <a16:creationId xmlns:a16="http://schemas.microsoft.com/office/drawing/2014/main" id="{8FE332AA-3305-4E43-8E91-FB30868A904A}"/>
                </a:ext>
              </a:extLst>
            </p:cNvPr>
            <p:cNvSpPr txBox="1"/>
            <p:nvPr/>
          </p:nvSpPr>
          <p:spPr>
            <a:xfrm>
              <a:off x="14809696" y="19410131"/>
              <a:ext cx="963941" cy="461665"/>
            </a:xfrm>
            <a:prstGeom prst="rect">
              <a:avLst/>
            </a:prstGeom>
            <a:noFill/>
            <a:ln>
              <a:noFill/>
            </a:ln>
            <a:effectLst/>
          </p:spPr>
          <p:txBody>
            <a:bodyPr wrap="square" numCol="1" spcCol="640080" rtlCol="0">
              <a:spAutoFit/>
            </a:bodyPr>
            <a:lstStyle/>
            <a:p>
              <a:pPr algn="ctr"/>
              <a:r>
                <a:rPr lang="en-US" sz="2400" b="1" i="1" dirty="0">
                  <a:solidFill>
                    <a:schemeClr val="tx1">
                      <a:lumMod val="75000"/>
                      <a:lumOff val="25000"/>
                    </a:schemeClr>
                  </a:solidFill>
                  <a:latin typeface="+mj-lt"/>
                </a:rPr>
                <a:t>NDVI</a:t>
              </a:r>
            </a:p>
          </p:txBody>
        </p:sp>
        <p:pic>
          <p:nvPicPr>
            <p:cNvPr id="287" name="Picture 286">
              <a:extLst>
                <a:ext uri="{FF2B5EF4-FFF2-40B4-BE49-F238E27FC236}">
                  <a16:creationId xmlns:a16="http://schemas.microsoft.com/office/drawing/2014/main" id="{9497E342-E93D-47AB-A5DD-FE5A5AA5E995}"/>
                </a:ext>
              </a:extLst>
            </p:cNvPr>
            <p:cNvPicPr>
              <a:picLocks/>
            </p:cNvPicPr>
            <p:nvPr/>
          </p:nvPicPr>
          <p:blipFill rotWithShape="1">
            <a:blip r:embed="rId25" cstate="screen">
              <a:extLst>
                <a:ext uri="{28A0092B-C50C-407E-A947-70E740481C1C}">
                  <a14:useLocalDpi xmlns:a14="http://schemas.microsoft.com/office/drawing/2010/main"/>
                </a:ext>
              </a:extLst>
            </a:blip>
            <a:srcRect l="4527" t="2327" r="8915" b="1229"/>
            <a:stretch/>
          </p:blipFill>
          <p:spPr>
            <a:xfrm rot="5400000">
              <a:off x="15724096" y="18961161"/>
              <a:ext cx="2743200" cy="4572000"/>
            </a:xfrm>
            <a:prstGeom prst="rect">
              <a:avLst/>
            </a:prstGeom>
            <a:ln>
              <a:noFill/>
            </a:ln>
          </p:spPr>
        </p:pic>
        <p:cxnSp>
          <p:nvCxnSpPr>
            <p:cNvPr id="288" name="Straight Connector 287">
              <a:extLst>
                <a:ext uri="{FF2B5EF4-FFF2-40B4-BE49-F238E27FC236}">
                  <a16:creationId xmlns:a16="http://schemas.microsoft.com/office/drawing/2014/main" id="{E435249B-2EDB-4A5B-9913-1C6C3E5C7C8B}"/>
                </a:ext>
              </a:extLst>
            </p:cNvPr>
            <p:cNvCxnSpPr>
              <a:cxnSpLocks/>
            </p:cNvCxnSpPr>
            <p:nvPr/>
          </p:nvCxnSpPr>
          <p:spPr>
            <a:xfrm flipV="1">
              <a:off x="15108470" y="20730927"/>
              <a:ext cx="4204315" cy="334515"/>
            </a:xfrm>
            <a:prstGeom prst="line">
              <a:avLst/>
            </a:prstGeom>
            <a:ln w="57150">
              <a:solidFill>
                <a:srgbClr val="396222">
                  <a:alpha val="90000"/>
                </a:srgbClr>
              </a:solidFill>
            </a:ln>
          </p:spPr>
          <p:style>
            <a:lnRef idx="1">
              <a:schemeClr val="accent1"/>
            </a:lnRef>
            <a:fillRef idx="0">
              <a:schemeClr val="accent1"/>
            </a:fillRef>
            <a:effectRef idx="0">
              <a:schemeClr val="accent1"/>
            </a:effectRef>
            <a:fontRef idx="minor">
              <a:schemeClr val="tx1"/>
            </a:fontRef>
          </p:style>
        </p:cxnSp>
        <p:sp>
          <p:nvSpPr>
            <p:cNvPr id="289" name="Rectangle 288">
              <a:extLst>
                <a:ext uri="{FF2B5EF4-FFF2-40B4-BE49-F238E27FC236}">
                  <a16:creationId xmlns:a16="http://schemas.microsoft.com/office/drawing/2014/main" id="{435BD4AD-3D0F-48DD-BD34-517C8102BD14}"/>
                </a:ext>
              </a:extLst>
            </p:cNvPr>
            <p:cNvSpPr/>
            <p:nvPr/>
          </p:nvSpPr>
          <p:spPr>
            <a:xfrm>
              <a:off x="15098488" y="19987023"/>
              <a:ext cx="4226318" cy="2433234"/>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 name="TextBox 205">
            <a:extLst>
              <a:ext uri="{FF2B5EF4-FFF2-40B4-BE49-F238E27FC236}">
                <a16:creationId xmlns:a16="http://schemas.microsoft.com/office/drawing/2014/main" id="{9D82748D-9469-4BAE-9050-C4CE5DD5BB8B}"/>
              </a:ext>
            </a:extLst>
          </p:cNvPr>
          <p:cNvSpPr txBox="1"/>
          <p:nvPr/>
        </p:nvSpPr>
        <p:spPr>
          <a:xfrm>
            <a:off x="7849940" y="19269651"/>
            <a:ext cx="6320493" cy="452695"/>
          </a:xfrm>
          <a:prstGeom prst="rect">
            <a:avLst/>
          </a:prstGeom>
          <a:noFill/>
          <a:ln>
            <a:noFill/>
          </a:ln>
          <a:effectLst/>
        </p:spPr>
        <p:txBody>
          <a:bodyPr wrap="square" numCol="1" spcCol="640080" rtlCol="0">
            <a:spAutoFit/>
          </a:bodyPr>
          <a:lstStyle/>
          <a:p>
            <a:pPr algn="ctr"/>
            <a:r>
              <a:rPr lang="en-US" sz="2400" b="1" dirty="0">
                <a:solidFill>
                  <a:schemeClr val="tx1">
                    <a:lumMod val="75000"/>
                    <a:lumOff val="25000"/>
                  </a:schemeClr>
                </a:solidFill>
                <a:latin typeface="+mj-lt"/>
              </a:rPr>
              <a:t>Snider Bottom NDVI Change: 1984 - 2017</a:t>
            </a:r>
          </a:p>
        </p:txBody>
      </p:sp>
      <p:pic>
        <p:nvPicPr>
          <p:cNvPr id="43" name="Picture 42" descr="A picture containing text&#10;&#10;Description generated with high confidence">
            <a:extLst>
              <a:ext uri="{FF2B5EF4-FFF2-40B4-BE49-F238E27FC236}">
                <a16:creationId xmlns:a16="http://schemas.microsoft.com/office/drawing/2014/main" id="{70E063AF-7A71-45E2-B92E-7DF5D8B7C061}"/>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7809786" y="19730051"/>
            <a:ext cx="6400800" cy="6276431"/>
          </a:xfrm>
          <a:prstGeom prst="rect">
            <a:avLst/>
          </a:prstGeom>
        </p:spPr>
      </p:pic>
      <p:grpSp>
        <p:nvGrpSpPr>
          <p:cNvPr id="44" name="Group 43">
            <a:extLst>
              <a:ext uri="{FF2B5EF4-FFF2-40B4-BE49-F238E27FC236}">
                <a16:creationId xmlns:a16="http://schemas.microsoft.com/office/drawing/2014/main" id="{22586E9D-5E66-48DA-8CCC-2A9D6C895758}"/>
              </a:ext>
            </a:extLst>
          </p:cNvPr>
          <p:cNvGrpSpPr/>
          <p:nvPr/>
        </p:nvGrpSpPr>
        <p:grpSpPr>
          <a:xfrm>
            <a:off x="12175374" y="24872365"/>
            <a:ext cx="2194560" cy="1255286"/>
            <a:chOff x="10425453" y="25427588"/>
            <a:chExt cx="2194560" cy="1280160"/>
          </a:xfrm>
          <a:effectLst>
            <a:outerShdw blurRad="50800" dist="38100" dir="2700000" algn="tl" rotWithShape="0">
              <a:prstClr val="black">
                <a:alpha val="40000"/>
              </a:prstClr>
            </a:outerShdw>
          </a:effectLst>
        </p:grpSpPr>
        <p:sp>
          <p:nvSpPr>
            <p:cNvPr id="228" name="Rectangle 227">
              <a:extLst>
                <a:ext uri="{FF2B5EF4-FFF2-40B4-BE49-F238E27FC236}">
                  <a16:creationId xmlns:a16="http://schemas.microsoft.com/office/drawing/2014/main" id="{93EA26A2-4CA4-4625-971C-9F63AD820DFF}"/>
                </a:ext>
              </a:extLst>
            </p:cNvPr>
            <p:cNvSpPr/>
            <p:nvPr/>
          </p:nvSpPr>
          <p:spPr>
            <a:xfrm>
              <a:off x="10425453" y="25427588"/>
              <a:ext cx="2194560" cy="128016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latin typeface="+mj-lt"/>
                </a:rPr>
                <a:t>Increase</a:t>
              </a:r>
            </a:p>
          </p:txBody>
        </p:sp>
        <p:grpSp>
          <p:nvGrpSpPr>
            <p:cNvPr id="235" name="Group 234">
              <a:extLst>
                <a:ext uri="{FF2B5EF4-FFF2-40B4-BE49-F238E27FC236}">
                  <a16:creationId xmlns:a16="http://schemas.microsoft.com/office/drawing/2014/main" id="{5B57B9E1-4AF0-4634-9032-C88D9E3D9E2C}"/>
                </a:ext>
              </a:extLst>
            </p:cNvPr>
            <p:cNvGrpSpPr/>
            <p:nvPr/>
          </p:nvGrpSpPr>
          <p:grpSpPr>
            <a:xfrm>
              <a:off x="10498307" y="25610468"/>
              <a:ext cx="2048853" cy="914400"/>
              <a:chOff x="6415283" y="20028758"/>
              <a:chExt cx="2048853" cy="914400"/>
            </a:xfrm>
          </p:grpSpPr>
          <p:pic>
            <p:nvPicPr>
              <p:cNvPr id="192" name="Picture 191" descr="A screenshot of a cell phone&#10;&#10;Description generated with very high confidence">
                <a:extLst>
                  <a:ext uri="{FF2B5EF4-FFF2-40B4-BE49-F238E27FC236}">
                    <a16:creationId xmlns:a16="http://schemas.microsoft.com/office/drawing/2014/main" id="{AA8CB7A9-A6CE-4BBC-A206-E91BC3E8146D}"/>
                  </a:ext>
                </a:extLst>
              </p:cNvPr>
              <p:cNvPicPr>
                <a:picLocks noChangeAspect="1"/>
              </p:cNvPicPr>
              <p:nvPr/>
            </p:nvPicPr>
            <p:blipFill rotWithShape="1">
              <a:blip r:embed="rId27" cstate="email">
                <a:extLst>
                  <a:ext uri="{28A0092B-C50C-407E-A947-70E740481C1C}">
                    <a14:useLocalDpi xmlns:a14="http://schemas.microsoft.com/office/drawing/2010/main"/>
                  </a:ext>
                </a:extLst>
              </a:blip>
              <a:srcRect l="7117" t="1084" r="5984" b="73231"/>
              <a:stretch/>
            </p:blipFill>
            <p:spPr>
              <a:xfrm>
                <a:off x="6415283" y="20028758"/>
                <a:ext cx="932333" cy="914400"/>
              </a:xfrm>
              <a:prstGeom prst="rect">
                <a:avLst/>
              </a:prstGeom>
            </p:spPr>
          </p:pic>
          <p:grpSp>
            <p:nvGrpSpPr>
              <p:cNvPr id="234" name="Group 233">
                <a:extLst>
                  <a:ext uri="{FF2B5EF4-FFF2-40B4-BE49-F238E27FC236}">
                    <a16:creationId xmlns:a16="http://schemas.microsoft.com/office/drawing/2014/main" id="{315030F8-9C9D-493E-8909-4A7FA165DA3E}"/>
                  </a:ext>
                </a:extLst>
              </p:cNvPr>
              <p:cNvGrpSpPr/>
              <p:nvPr/>
            </p:nvGrpSpPr>
            <p:grpSpPr>
              <a:xfrm>
                <a:off x="7202251" y="20109757"/>
                <a:ext cx="1261885" cy="716868"/>
                <a:chOff x="7202251" y="20109757"/>
                <a:chExt cx="1261885" cy="716868"/>
              </a:xfrm>
            </p:grpSpPr>
            <p:sp>
              <p:nvSpPr>
                <p:cNvPr id="232" name="TextBox 231">
                  <a:extLst>
                    <a:ext uri="{FF2B5EF4-FFF2-40B4-BE49-F238E27FC236}">
                      <a16:creationId xmlns:a16="http://schemas.microsoft.com/office/drawing/2014/main" id="{3B338AF0-5855-4DD9-8A9E-D636CED762CD}"/>
                    </a:ext>
                  </a:extLst>
                </p:cNvPr>
                <p:cNvSpPr txBox="1"/>
                <p:nvPr/>
              </p:nvSpPr>
              <p:spPr>
                <a:xfrm>
                  <a:off x="7202252" y="20109757"/>
                  <a:ext cx="1013419" cy="338554"/>
                </a:xfrm>
                <a:prstGeom prst="rect">
                  <a:avLst/>
                </a:prstGeom>
              </p:spPr>
              <p:txBody>
                <a:bodyPr wrap="none" numCol="1" spcCol="640080" rtlCol="0">
                  <a:spAutoFit/>
                </a:bodyPr>
                <a:lstStyle/>
                <a:p>
                  <a:r>
                    <a:rPr lang="en-US" sz="1600" dirty="0">
                      <a:solidFill>
                        <a:schemeClr val="tx1">
                          <a:lumMod val="75000"/>
                          <a:lumOff val="25000"/>
                        </a:schemeClr>
                      </a:solidFill>
                      <a:latin typeface="+mj-lt"/>
                    </a:rPr>
                    <a:t>Greener</a:t>
                  </a:r>
                </a:p>
              </p:txBody>
            </p:sp>
            <p:sp>
              <p:nvSpPr>
                <p:cNvPr id="195" name="TextBox 194">
                  <a:extLst>
                    <a:ext uri="{FF2B5EF4-FFF2-40B4-BE49-F238E27FC236}">
                      <a16:creationId xmlns:a16="http://schemas.microsoft.com/office/drawing/2014/main" id="{46F78D16-31E4-4DD9-A533-379018CF60ED}"/>
                    </a:ext>
                  </a:extLst>
                </p:cNvPr>
                <p:cNvSpPr txBox="1"/>
                <p:nvPr/>
              </p:nvSpPr>
              <p:spPr>
                <a:xfrm>
                  <a:off x="7202251" y="20488071"/>
                  <a:ext cx="1261885" cy="338554"/>
                </a:xfrm>
                <a:prstGeom prst="rect">
                  <a:avLst/>
                </a:prstGeom>
              </p:spPr>
              <p:txBody>
                <a:bodyPr wrap="square" numCol="1" spcCol="640080" rtlCol="0">
                  <a:spAutoFit/>
                </a:bodyPr>
                <a:lstStyle/>
                <a:p>
                  <a:r>
                    <a:rPr lang="en-US" sz="1600" dirty="0">
                      <a:solidFill>
                        <a:schemeClr val="tx1">
                          <a:lumMod val="75000"/>
                          <a:lumOff val="25000"/>
                        </a:schemeClr>
                      </a:solidFill>
                      <a:latin typeface="+mj-lt"/>
                    </a:rPr>
                    <a:t>Less Green</a:t>
                  </a:r>
                </a:p>
              </p:txBody>
            </p:sp>
          </p:grpSp>
        </p:grpSp>
      </p:grpSp>
      <p:pic>
        <p:nvPicPr>
          <p:cNvPr id="41" name="Picture 40" descr="A close up of a snake&#10;&#10;Description generated with high confidence">
            <a:extLst>
              <a:ext uri="{FF2B5EF4-FFF2-40B4-BE49-F238E27FC236}">
                <a16:creationId xmlns:a16="http://schemas.microsoft.com/office/drawing/2014/main" id="{33F69C4F-7AC6-432B-820F-A195099C1C7E}"/>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19603866" y="19730051"/>
            <a:ext cx="6400800" cy="6276431"/>
          </a:xfrm>
          <a:prstGeom prst="rect">
            <a:avLst/>
          </a:prstGeom>
        </p:spPr>
      </p:pic>
      <p:sp>
        <p:nvSpPr>
          <p:cNvPr id="207" name="TextBox 206">
            <a:extLst>
              <a:ext uri="{FF2B5EF4-FFF2-40B4-BE49-F238E27FC236}">
                <a16:creationId xmlns:a16="http://schemas.microsoft.com/office/drawing/2014/main" id="{F6D4AAA7-E768-4806-843F-51003C7315F7}"/>
              </a:ext>
            </a:extLst>
          </p:cNvPr>
          <p:cNvSpPr txBox="1"/>
          <p:nvPr/>
        </p:nvSpPr>
        <p:spPr>
          <a:xfrm>
            <a:off x="19349797" y="19269651"/>
            <a:ext cx="6908939" cy="452695"/>
          </a:xfrm>
          <a:prstGeom prst="rect">
            <a:avLst/>
          </a:prstGeom>
          <a:noFill/>
          <a:ln>
            <a:noFill/>
          </a:ln>
          <a:effectLst/>
        </p:spPr>
        <p:txBody>
          <a:bodyPr wrap="square" numCol="1" spcCol="640080" rtlCol="0">
            <a:spAutoFit/>
          </a:bodyPr>
          <a:lstStyle/>
          <a:p>
            <a:pPr algn="ctr"/>
            <a:r>
              <a:rPr lang="en-US" sz="2400" b="1" dirty="0">
                <a:solidFill>
                  <a:schemeClr val="tx1">
                    <a:lumMod val="75000"/>
                    <a:lumOff val="25000"/>
                  </a:schemeClr>
                </a:solidFill>
                <a:latin typeface="+mj-lt"/>
              </a:rPr>
              <a:t>Snider Bottom MNDWI Change: 1984 - 2017</a:t>
            </a:r>
          </a:p>
        </p:txBody>
      </p:sp>
      <p:grpSp>
        <p:nvGrpSpPr>
          <p:cNvPr id="61" name="Group 60">
            <a:extLst>
              <a:ext uri="{FF2B5EF4-FFF2-40B4-BE49-F238E27FC236}">
                <a16:creationId xmlns:a16="http://schemas.microsoft.com/office/drawing/2014/main" id="{12C0271A-43DB-48CE-8456-2AA0AE75B62F}"/>
              </a:ext>
            </a:extLst>
          </p:cNvPr>
          <p:cNvGrpSpPr/>
          <p:nvPr/>
        </p:nvGrpSpPr>
        <p:grpSpPr>
          <a:xfrm>
            <a:off x="23967348" y="24861884"/>
            <a:ext cx="2194560" cy="1255286"/>
            <a:chOff x="24095425" y="24962406"/>
            <a:chExt cx="2194560" cy="1280160"/>
          </a:xfrm>
        </p:grpSpPr>
        <p:sp>
          <p:nvSpPr>
            <p:cNvPr id="190" name="Rectangle 189">
              <a:extLst>
                <a:ext uri="{FF2B5EF4-FFF2-40B4-BE49-F238E27FC236}">
                  <a16:creationId xmlns:a16="http://schemas.microsoft.com/office/drawing/2014/main" id="{1F9F6143-DCF8-4B25-BD68-5F3A7737F7F9}"/>
                </a:ext>
              </a:extLst>
            </p:cNvPr>
            <p:cNvSpPr/>
            <p:nvPr/>
          </p:nvSpPr>
          <p:spPr>
            <a:xfrm>
              <a:off x="24095425" y="24962406"/>
              <a:ext cx="2194560" cy="1280160"/>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6" name="Group 235">
              <a:extLst>
                <a:ext uri="{FF2B5EF4-FFF2-40B4-BE49-F238E27FC236}">
                  <a16:creationId xmlns:a16="http://schemas.microsoft.com/office/drawing/2014/main" id="{A03DF4D3-F68B-40E9-B95D-9923A3422725}"/>
                </a:ext>
              </a:extLst>
            </p:cNvPr>
            <p:cNvGrpSpPr/>
            <p:nvPr/>
          </p:nvGrpSpPr>
          <p:grpSpPr>
            <a:xfrm>
              <a:off x="24368938" y="25145286"/>
              <a:ext cx="1647535" cy="914400"/>
              <a:chOff x="13827876" y="19968664"/>
              <a:chExt cx="1647535" cy="914400"/>
            </a:xfrm>
          </p:grpSpPr>
          <p:pic>
            <p:nvPicPr>
              <p:cNvPr id="193" name="Picture 192" descr="A screenshot of a cell phone&#10;&#10;Description generated with very high confidence">
                <a:extLst>
                  <a:ext uri="{FF2B5EF4-FFF2-40B4-BE49-F238E27FC236}">
                    <a16:creationId xmlns:a16="http://schemas.microsoft.com/office/drawing/2014/main" id="{C49749D5-FA15-4D60-B0D6-BE78B7E5145D}"/>
                  </a:ext>
                </a:extLst>
              </p:cNvPr>
              <p:cNvPicPr>
                <a:picLocks noChangeAspect="1"/>
              </p:cNvPicPr>
              <p:nvPr/>
            </p:nvPicPr>
            <p:blipFill rotWithShape="1">
              <a:blip r:embed="rId27" cstate="email">
                <a:extLst>
                  <a:ext uri="{28A0092B-C50C-407E-A947-70E740481C1C}">
                    <a14:useLocalDpi xmlns:a14="http://schemas.microsoft.com/office/drawing/2010/main"/>
                  </a:ext>
                </a:extLst>
              </a:blip>
              <a:srcRect l="7118" t="71797" r="5983" b="2518"/>
              <a:stretch/>
            </p:blipFill>
            <p:spPr>
              <a:xfrm>
                <a:off x="13827876" y="19968664"/>
                <a:ext cx="932331" cy="914400"/>
              </a:xfrm>
              <a:prstGeom prst="rect">
                <a:avLst/>
              </a:prstGeom>
            </p:spPr>
          </p:pic>
          <p:grpSp>
            <p:nvGrpSpPr>
              <p:cNvPr id="233" name="Group 232">
                <a:extLst>
                  <a:ext uri="{FF2B5EF4-FFF2-40B4-BE49-F238E27FC236}">
                    <a16:creationId xmlns:a16="http://schemas.microsoft.com/office/drawing/2014/main" id="{39E2A452-2790-4CC2-AE4E-0CC6338A354C}"/>
                  </a:ext>
                </a:extLst>
              </p:cNvPr>
              <p:cNvGrpSpPr/>
              <p:nvPr/>
            </p:nvGrpSpPr>
            <p:grpSpPr>
              <a:xfrm>
                <a:off x="14627102" y="20072357"/>
                <a:ext cx="848309" cy="716668"/>
                <a:chOff x="14627102" y="20072357"/>
                <a:chExt cx="848309" cy="716668"/>
              </a:xfrm>
            </p:grpSpPr>
            <p:sp>
              <p:nvSpPr>
                <p:cNvPr id="196" name="TextBox 195">
                  <a:extLst>
                    <a:ext uri="{FF2B5EF4-FFF2-40B4-BE49-F238E27FC236}">
                      <a16:creationId xmlns:a16="http://schemas.microsoft.com/office/drawing/2014/main" id="{E7BB8439-4ADF-4EAC-A32C-2BC945BE5207}"/>
                    </a:ext>
                  </a:extLst>
                </p:cNvPr>
                <p:cNvSpPr txBox="1"/>
                <p:nvPr/>
              </p:nvSpPr>
              <p:spPr>
                <a:xfrm>
                  <a:off x="14627102" y="20072357"/>
                  <a:ext cx="848309" cy="338554"/>
                </a:xfrm>
                <a:prstGeom prst="rect">
                  <a:avLst/>
                </a:prstGeom>
              </p:spPr>
              <p:txBody>
                <a:bodyPr wrap="none" numCol="1" spcCol="640080" rtlCol="0">
                  <a:spAutoFit/>
                </a:bodyPr>
                <a:lstStyle/>
                <a:p>
                  <a:r>
                    <a:rPr lang="en-US" sz="1600" dirty="0">
                      <a:solidFill>
                        <a:schemeClr val="tx1">
                          <a:lumMod val="75000"/>
                          <a:lumOff val="25000"/>
                        </a:schemeClr>
                      </a:solidFill>
                      <a:latin typeface="+mj-lt"/>
                    </a:rPr>
                    <a:t>Wetter</a:t>
                  </a:r>
                </a:p>
              </p:txBody>
            </p:sp>
            <p:sp>
              <p:nvSpPr>
                <p:cNvPr id="198" name="TextBox 197">
                  <a:extLst>
                    <a:ext uri="{FF2B5EF4-FFF2-40B4-BE49-F238E27FC236}">
                      <a16:creationId xmlns:a16="http://schemas.microsoft.com/office/drawing/2014/main" id="{B5D67BC1-69A6-4DF5-804D-881A28F6E8BF}"/>
                    </a:ext>
                  </a:extLst>
                </p:cNvPr>
                <p:cNvSpPr txBox="1"/>
                <p:nvPr/>
              </p:nvSpPr>
              <p:spPr>
                <a:xfrm>
                  <a:off x="14627102" y="20450471"/>
                  <a:ext cx="636713" cy="338554"/>
                </a:xfrm>
                <a:prstGeom prst="rect">
                  <a:avLst/>
                </a:prstGeom>
              </p:spPr>
              <p:txBody>
                <a:bodyPr wrap="none" numCol="1" spcCol="640080" rtlCol="0">
                  <a:spAutoFit/>
                </a:bodyPr>
                <a:lstStyle/>
                <a:p>
                  <a:r>
                    <a:rPr lang="en-US" sz="1600" dirty="0">
                      <a:solidFill>
                        <a:schemeClr val="tx1">
                          <a:lumMod val="75000"/>
                          <a:lumOff val="25000"/>
                        </a:schemeClr>
                      </a:solidFill>
                      <a:latin typeface="+mj-lt"/>
                    </a:rPr>
                    <a:t>Drier</a:t>
                  </a:r>
                </a:p>
              </p:txBody>
            </p:sp>
          </p:grpSp>
        </p:grpSp>
      </p:grpSp>
      <p:sp>
        <p:nvSpPr>
          <p:cNvPr id="302" name="Oval 301">
            <a:extLst>
              <a:ext uri="{FF2B5EF4-FFF2-40B4-BE49-F238E27FC236}">
                <a16:creationId xmlns:a16="http://schemas.microsoft.com/office/drawing/2014/main" id="{6EB1C8E8-6525-47D7-8134-9EA6C3835466}"/>
              </a:ext>
            </a:extLst>
          </p:cNvPr>
          <p:cNvSpPr/>
          <p:nvPr/>
        </p:nvSpPr>
        <p:spPr>
          <a:xfrm>
            <a:off x="22183345" y="23981868"/>
            <a:ext cx="228600" cy="228600"/>
          </a:xfrm>
          <a:prstGeom prst="ellipse">
            <a:avLst/>
          </a:prstGeom>
          <a:solidFill>
            <a:schemeClr val="bg1"/>
          </a:solidFill>
          <a:ln w="190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294" name="Straight Connector 293">
            <a:extLst>
              <a:ext uri="{FF2B5EF4-FFF2-40B4-BE49-F238E27FC236}">
                <a16:creationId xmlns:a16="http://schemas.microsoft.com/office/drawing/2014/main" id="{EF17568E-CC78-4C8A-B68C-BB5F2D63A1E2}"/>
              </a:ext>
            </a:extLst>
          </p:cNvPr>
          <p:cNvCxnSpPr>
            <a:cxnSpLocks/>
            <a:stCxn id="292" idx="0"/>
          </p:cNvCxnSpPr>
          <p:nvPr/>
        </p:nvCxnSpPr>
        <p:spPr>
          <a:xfrm flipV="1">
            <a:off x="10494833" y="20335726"/>
            <a:ext cx="4365785" cy="3646142"/>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70949D12-2B41-417B-ABE5-3E047F38E54A}"/>
              </a:ext>
            </a:extLst>
          </p:cNvPr>
          <p:cNvCxnSpPr>
            <a:cxnSpLocks/>
            <a:stCxn id="292" idx="4"/>
          </p:cNvCxnSpPr>
          <p:nvPr/>
        </p:nvCxnSpPr>
        <p:spPr>
          <a:xfrm flipV="1">
            <a:off x="10494833" y="22681690"/>
            <a:ext cx="4435744" cy="152877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2" name="Oval 291">
            <a:extLst>
              <a:ext uri="{FF2B5EF4-FFF2-40B4-BE49-F238E27FC236}">
                <a16:creationId xmlns:a16="http://schemas.microsoft.com/office/drawing/2014/main" id="{5D45BB8F-C751-4B71-94F4-47B0A473DD08}"/>
              </a:ext>
            </a:extLst>
          </p:cNvPr>
          <p:cNvSpPr/>
          <p:nvPr/>
        </p:nvSpPr>
        <p:spPr>
          <a:xfrm>
            <a:off x="10380533" y="23981868"/>
            <a:ext cx="228600" cy="228600"/>
          </a:xfrm>
          <a:prstGeom prst="ellipse">
            <a:avLst/>
          </a:prstGeom>
          <a:solidFill>
            <a:schemeClr val="bg1"/>
          </a:solidFill>
          <a:ln w="19050">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cxnSp>
        <p:nvCxnSpPr>
          <p:cNvPr id="303" name="Straight Connector 302">
            <a:extLst>
              <a:ext uri="{FF2B5EF4-FFF2-40B4-BE49-F238E27FC236}">
                <a16:creationId xmlns:a16="http://schemas.microsoft.com/office/drawing/2014/main" id="{4640431A-1BED-4CEC-B0E2-5300A59C1CE3}"/>
              </a:ext>
            </a:extLst>
          </p:cNvPr>
          <p:cNvCxnSpPr>
            <a:cxnSpLocks/>
            <a:stCxn id="302" idx="0"/>
          </p:cNvCxnSpPr>
          <p:nvPr/>
        </p:nvCxnSpPr>
        <p:spPr>
          <a:xfrm flipH="1" flipV="1">
            <a:off x="19099808" y="23425879"/>
            <a:ext cx="3197837" cy="555989"/>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4" name="Straight Connector 303">
            <a:extLst>
              <a:ext uri="{FF2B5EF4-FFF2-40B4-BE49-F238E27FC236}">
                <a16:creationId xmlns:a16="http://schemas.microsoft.com/office/drawing/2014/main" id="{DD4A1CF2-3168-418C-8A7B-A48AA97555AB}"/>
              </a:ext>
            </a:extLst>
          </p:cNvPr>
          <p:cNvCxnSpPr>
            <a:cxnSpLocks/>
            <a:stCxn id="302" idx="4"/>
          </p:cNvCxnSpPr>
          <p:nvPr/>
        </p:nvCxnSpPr>
        <p:spPr>
          <a:xfrm flipH="1">
            <a:off x="19099808" y="24210468"/>
            <a:ext cx="3197837" cy="1601367"/>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253B424D-BBE7-4F04-B507-82A21C38473F}"/>
              </a:ext>
            </a:extLst>
          </p:cNvPr>
          <p:cNvGrpSpPr/>
          <p:nvPr/>
        </p:nvGrpSpPr>
        <p:grpSpPr>
          <a:xfrm>
            <a:off x="878267" y="18364163"/>
            <a:ext cx="25674899" cy="769441"/>
            <a:chOff x="843099" y="18307013"/>
            <a:chExt cx="25674899" cy="769441"/>
          </a:xfrm>
        </p:grpSpPr>
        <p:sp>
          <p:nvSpPr>
            <p:cNvPr id="5" name="TextBox 4"/>
            <p:cNvSpPr txBox="1"/>
            <p:nvPr/>
          </p:nvSpPr>
          <p:spPr>
            <a:xfrm>
              <a:off x="843099" y="18307013"/>
              <a:ext cx="25674500" cy="769441"/>
            </a:xfrm>
            <a:prstGeom prst="rect">
              <a:avLst/>
            </a:prstGeom>
            <a:noFill/>
          </p:spPr>
          <p:txBody>
            <a:bodyPr wrap="square" rtlCol="0">
              <a:spAutoFit/>
            </a:bodyPr>
            <a:lstStyle/>
            <a:p>
              <a:r>
                <a:rPr lang="en-US" sz="4400" b="1" dirty="0">
                  <a:solidFill>
                    <a:srgbClr val="389CC4"/>
                  </a:solidFill>
                  <a:latin typeface="Century Gothic" panose="020B0502020202020204" pitchFamily="34" charset="0"/>
                </a:rPr>
                <a:t>Results</a:t>
              </a:r>
            </a:p>
          </p:txBody>
        </p:sp>
        <p:sp>
          <p:nvSpPr>
            <p:cNvPr id="85" name="Rectangle 84">
              <a:extLst>
                <a:ext uri="{FF2B5EF4-FFF2-40B4-BE49-F238E27FC236}">
                  <a16:creationId xmlns:a16="http://schemas.microsoft.com/office/drawing/2014/main" id="{32E958B1-8FD4-4920-B1F6-244E59145848}"/>
                </a:ext>
              </a:extLst>
            </p:cNvPr>
            <p:cNvSpPr/>
            <p:nvPr/>
          </p:nvSpPr>
          <p:spPr>
            <a:xfrm flipV="1">
              <a:off x="3109358" y="18585434"/>
              <a:ext cx="23408640" cy="212598"/>
            </a:xfrm>
            <a:prstGeom prst="rect">
              <a:avLst/>
            </a:prstGeom>
            <a:solidFill>
              <a:srgbClr val="379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6" name="Rectangle 295">
            <a:extLst>
              <a:ext uri="{FF2B5EF4-FFF2-40B4-BE49-F238E27FC236}">
                <a16:creationId xmlns:a16="http://schemas.microsoft.com/office/drawing/2014/main" id="{2846DF27-D8D7-4781-9FDE-88CB40035110}"/>
              </a:ext>
            </a:extLst>
          </p:cNvPr>
          <p:cNvSpPr/>
          <p:nvPr/>
        </p:nvSpPr>
        <p:spPr>
          <a:xfrm flipV="1">
            <a:off x="914116" y="26578322"/>
            <a:ext cx="25603200" cy="212598"/>
          </a:xfrm>
          <a:prstGeom prst="rect">
            <a:avLst/>
          </a:prstGeom>
          <a:solidFill>
            <a:srgbClr val="379B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22251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Century Gothic"/>
        <a:ea typeface=""/>
        <a:cs typeface=""/>
      </a:majorFont>
      <a:minorFont>
        <a:latin typeface="Garamond"/>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numCol="1" spcCol="640080"/>
      <a:lstStyle>
        <a:defPPr algn="just">
          <a:defRPr dirty="0" smtClean="0">
            <a:solidFill>
              <a:schemeClr val="tx1">
                <a:lumMod val="75000"/>
                <a:lumOff val="25000"/>
              </a:schemeClr>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3102</TotalTime>
  <Words>734</Words>
  <Application>Microsoft Office PowerPoint</Application>
  <PresentationFormat>Custom</PresentationFormat>
  <Paragraphs>103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Century Gothic</vt:lpstr>
      <vt:lpstr>Garamond</vt:lpstr>
      <vt:lpstr>Webdings</vt:lpstr>
      <vt:lpstr>Office Theme</vt:lpstr>
      <vt:lpstr>PowerPoint Presentation</vt:lpstr>
    </vt:vector>
  </TitlesOfParts>
  <Company>HPES ACES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Yankoski, Robert A. (LARC-E3)[SSAI DEVELOP]</dc:creator>
  <cp:lastModifiedBy>Margaret C Mulhern</cp:lastModifiedBy>
  <cp:revision>211</cp:revision>
  <dcterms:created xsi:type="dcterms:W3CDTF">2017-06-02T16:06:25Z</dcterms:created>
  <dcterms:modified xsi:type="dcterms:W3CDTF">2018-07-24T20:46:55Z</dcterms:modified>
</cp:coreProperties>
</file>